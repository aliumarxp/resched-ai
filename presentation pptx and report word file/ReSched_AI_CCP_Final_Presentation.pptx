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3" d="100"/>
          <a:sy n="73" d="100"/>
        </p:scale>
        <p:origin x="27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0DCAC78-FB25-43E2-B53F-B2745B1733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E07EF-CEDF-4173-B6B8-CEE168204E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C3F1F-0E91-47ED-9F88-BDF70B7EDC7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09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6D4E1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C6D4E1"/>
                </a:solidFill>
                <a:latin typeface="Aptos"/>
                <a:ea typeface="Aptos"/>
                <a:cs typeface="Aptos"/>
              </a:rPr>
              <a:t>NASTP Institute of Information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AAA00-D67E-4628-963D-C8313C6AE1C6}"/>
              </a:ext>
            </a:extLst>
          </p:cNvPr>
          <p:cNvSpPr>
            <a:spLocks noGrp="1"/>
          </p:cNvSpPr>
          <p:nvPr/>
        </p:nvSpPr>
        <p:spPr>
          <a:xfrm>
            <a:off x="1047750" y="923925"/>
            <a:ext cx="3238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ReSched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34EF5-0E76-4EA0-8FAB-E24BD3A22567}"/>
              </a:ext>
            </a:extLst>
          </p:cNvPr>
          <p:cNvSpPr>
            <a:spLocks noGrp="1"/>
          </p:cNvSpPr>
          <p:nvPr/>
        </p:nvSpPr>
        <p:spPr>
          <a:xfrm>
            <a:off x="3506917" y="991264"/>
            <a:ext cx="1558665" cy="3796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4000" b="1" dirty="0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70EFA-DCBF-4091-A295-FBFA6697470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University Timetable Optimizer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E21D3-9B9F-4BE4-AE81-97107F1C70DA}"/>
              </a:ext>
            </a:extLst>
          </p:cNvPr>
          <p:cNvSpPr>
            <a:spLocks noGrp="1"/>
          </p:cNvSpPr>
          <p:nvPr/>
        </p:nvSpPr>
        <p:spPr>
          <a:xfrm>
            <a:off x="628650" y="27241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6E2EE"/>
                </a:solidFill>
                <a:latin typeface="Aptos"/>
                <a:ea typeface="Aptos"/>
                <a:cs typeface="Aptos"/>
              </a:defRPr>
            </a:pPr>
            <a:r>
              <a:rPr sz="2000" b="0" dirty="0">
                <a:solidFill>
                  <a:srgbClr val="D6E2EE"/>
                </a:solidFill>
                <a:latin typeface="Aptos"/>
                <a:ea typeface="Aptos"/>
                <a:cs typeface="Aptos"/>
              </a:rPr>
              <a:t>A CSP and Heuristic Search Based Web System for Conflict-Free and Fair University Scheduling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63CD32-77F6-4AFA-A482-3EEE53451B1E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2000250" cy="990600"/>
          </a:xfrm>
          <a:prstGeom prst="rect">
            <a:avLst/>
          </a:prstGeom>
          <a:solidFill>
            <a:srgbClr val="142A40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2505A8-9D13-4290-9B48-A9995C914859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66675" cy="9906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505F7-762F-4E16-ADF4-4118DA52EF11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1695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149/149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86386E-1EC0-4A6C-8A57-6629B852E494}"/>
              </a:ext>
            </a:extLst>
          </p:cNvPr>
          <p:cNvSpPr>
            <a:spLocks noGrp="1"/>
          </p:cNvSpPr>
          <p:nvPr/>
        </p:nvSpPr>
        <p:spPr>
          <a:xfrm>
            <a:off x="819150" y="44386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Sessions scheduled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8D7250-748B-4D78-8A64-7BE977AD6F9A}"/>
              </a:ext>
            </a:extLst>
          </p:cNvPr>
          <p:cNvSpPr>
            <a:spLocks noGrp="1"/>
          </p:cNvSpPr>
          <p:nvPr/>
        </p:nvSpPr>
        <p:spPr>
          <a:xfrm>
            <a:off x="2838450" y="3848100"/>
            <a:ext cx="1714500" cy="990600"/>
          </a:xfrm>
          <a:prstGeom prst="rect">
            <a:avLst/>
          </a:prstGeom>
          <a:solidFill>
            <a:srgbClr val="142A40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EAC921-08C4-4354-9222-001E96021E5B}"/>
              </a:ext>
            </a:extLst>
          </p:cNvPr>
          <p:cNvSpPr>
            <a:spLocks noGrp="1"/>
          </p:cNvSpPr>
          <p:nvPr/>
        </p:nvSpPr>
        <p:spPr>
          <a:xfrm>
            <a:off x="2838450" y="3848100"/>
            <a:ext cx="66675" cy="990600"/>
          </a:xfrm>
          <a:prstGeom prst="rect">
            <a:avLst/>
          </a:prstGeom>
          <a:solidFill>
            <a:srgbClr val="5EEA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1227C0-08A3-42D1-93D3-53FB1CE46540}"/>
              </a:ext>
            </a:extLst>
          </p:cNvPr>
          <p:cNvSpPr>
            <a:spLocks noGrp="1"/>
          </p:cNvSpPr>
          <p:nvPr/>
        </p:nvSpPr>
        <p:spPr>
          <a:xfrm>
            <a:off x="3028950" y="4019550"/>
            <a:ext cx="1409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EEAD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EEAD4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7D0B72-180F-4EDF-9A43-A4B2CCA48631}"/>
              </a:ext>
            </a:extLst>
          </p:cNvPr>
          <p:cNvSpPr>
            <a:spLocks noGrp="1"/>
          </p:cNvSpPr>
          <p:nvPr/>
        </p:nvSpPr>
        <p:spPr>
          <a:xfrm>
            <a:off x="3048000" y="443865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conflicts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85DAEB-97F7-4782-A437-0E9085E95162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1762125" cy="990600"/>
          </a:xfrm>
          <a:prstGeom prst="rect">
            <a:avLst/>
          </a:prstGeom>
          <a:solidFill>
            <a:srgbClr val="142A40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CB4A18-AE74-4B73-9047-0CB7BDB5F9FF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66675" cy="9906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6CBAEE-CB1B-45D1-80AF-F3A761237469}"/>
              </a:ext>
            </a:extLst>
          </p:cNvPr>
          <p:cNvSpPr>
            <a:spLocks noGrp="1"/>
          </p:cNvSpPr>
          <p:nvPr/>
        </p:nvSpPr>
        <p:spPr>
          <a:xfrm>
            <a:off x="4972050" y="4019550"/>
            <a:ext cx="14573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85/100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0DFACA-2988-4CE5-B2D0-80038FFEB6CF}"/>
              </a:ext>
            </a:extLst>
          </p:cNvPr>
          <p:cNvSpPr>
            <a:spLocks noGrp="1"/>
          </p:cNvSpPr>
          <p:nvPr/>
        </p:nvSpPr>
        <p:spPr>
          <a:xfrm>
            <a:off x="4991100" y="4438650"/>
            <a:ext cx="14192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Quality score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88045B-81EA-4EC8-9AE2-62A7F09862BF}"/>
              </a:ext>
            </a:extLst>
          </p:cNvPr>
          <p:cNvSpPr>
            <a:spLocks noGrp="1"/>
          </p:cNvSpPr>
          <p:nvPr/>
        </p:nvSpPr>
        <p:spPr>
          <a:xfrm>
            <a:off x="8096250" y="876300"/>
            <a:ext cx="3238500" cy="4000500"/>
          </a:xfrm>
          <a:prstGeom prst="rect">
            <a:avLst/>
          </a:prstGeom>
          <a:solidFill>
            <a:srgbClr val="142A40"/>
          </a:solidFill>
          <a:ln w="9525">
            <a:solidFill>
              <a:srgbClr val="29435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B2E5A7-9507-4CF6-B869-8454CB41DFC1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5B84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41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7535C-D364-4CD0-B079-2850EEE529B8}"/>
              </a:ext>
            </a:extLst>
          </p:cNvPr>
          <p:cNvSpPr>
            <a:spLocks noGrp="1"/>
          </p:cNvSpPr>
          <p:nvPr/>
        </p:nvSpPr>
        <p:spPr>
          <a:xfrm>
            <a:off x="8420100" y="158115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Name: </a:t>
            </a:r>
            <a:r>
              <a:rPr lang="en-US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Umar ALI</a:t>
            </a:r>
            <a:endParaRPr sz="13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Reg ID:</a:t>
            </a:r>
            <a:r>
              <a:rPr lang="en-US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S2025AI002</a:t>
            </a:r>
            <a:endParaRPr sz="13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7CB7E5-6E1A-4BA5-9F85-EFE9973584E8}"/>
              </a:ext>
            </a:extLst>
          </p:cNvPr>
          <p:cNvSpPr>
            <a:spLocks noGrp="1"/>
          </p:cNvSpPr>
          <p:nvPr/>
        </p:nvSpPr>
        <p:spPr>
          <a:xfrm>
            <a:off x="8420100" y="216577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Name: </a:t>
            </a:r>
            <a:r>
              <a:rPr lang="en-US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Sohaib</a:t>
            </a:r>
            <a:endParaRPr sz="13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Reg ID: </a:t>
            </a:r>
            <a:r>
              <a:rPr lang="en-US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S2025AI018</a:t>
            </a:r>
            <a:endParaRPr sz="13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8D11F1-F8E5-41BD-9D89-9D0451CC6D25}"/>
              </a:ext>
            </a:extLst>
          </p:cNvPr>
          <p:cNvSpPr>
            <a:spLocks noGrp="1"/>
          </p:cNvSpPr>
          <p:nvPr/>
        </p:nvSpPr>
        <p:spPr>
          <a:xfrm>
            <a:off x="8420100" y="36195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5B84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B841"/>
                </a:solidFill>
                <a:latin typeface="Aptos"/>
                <a:ea typeface="Aptos"/>
                <a:cs typeface="Aptos"/>
              </a:rPr>
              <a:t>COURSE &amp; ASSESSMENT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F883FA-E181-416C-A8DA-21823ADDD1F8}"/>
              </a:ext>
            </a:extLst>
          </p:cNvPr>
          <p:cNvSpPr>
            <a:spLocks noGrp="1"/>
          </p:cNvSpPr>
          <p:nvPr/>
        </p:nvSpPr>
        <p:spPr>
          <a:xfrm>
            <a:off x="8420100" y="3962400"/>
            <a:ext cx="2571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D6E2EE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D6E2EE"/>
                </a:solidFill>
                <a:latin typeface="Aptos"/>
                <a:ea typeface="Aptos"/>
                <a:cs typeface="Aptos"/>
              </a:rPr>
              <a:t>Artificial Intelligence (Theory )</a:t>
            </a:r>
          </a:p>
          <a:p>
            <a:pPr algn="l">
              <a:defRPr sz="1125" b="0">
                <a:solidFill>
                  <a:srgbClr val="D6E2EE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D6E2EE"/>
                </a:solidFill>
                <a:latin typeface="Aptos"/>
                <a:ea typeface="Aptos"/>
                <a:cs typeface="Aptos"/>
              </a:rPr>
              <a:t>Course Code: CS 344</a:t>
            </a:r>
          </a:p>
          <a:p>
            <a:pPr algn="l">
              <a:defRPr sz="1125" b="0">
                <a:solidFill>
                  <a:srgbClr val="D6E2EE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D6E2EE"/>
                </a:solidFill>
                <a:latin typeface="Aptos"/>
                <a:ea typeface="Aptos"/>
                <a:cs typeface="Aptos"/>
              </a:rPr>
              <a:t>CCP Presentation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09331A-B752-4470-9BA4-7B9357D5EA3E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6D4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D4E1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B82195-4097-4C45-AAFF-5888E731398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6D4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D4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3081DE-C1CF-89FF-D4A1-C4E92D30BDB8}"/>
              </a:ext>
            </a:extLst>
          </p:cNvPr>
          <p:cNvSpPr>
            <a:spLocks noGrp="1"/>
          </p:cNvSpPr>
          <p:nvPr/>
        </p:nvSpPr>
        <p:spPr>
          <a:xfrm>
            <a:off x="8420100" y="267543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Name: </a:t>
            </a:r>
            <a:r>
              <a:rPr lang="en-US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Huzaifa</a:t>
            </a:r>
            <a:endParaRPr sz="13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Reg ID: </a:t>
            </a:r>
            <a:r>
              <a:rPr lang="en-US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S2025AI036</a:t>
            </a:r>
            <a:endParaRPr sz="13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9007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44DC1F-8214-48CA-9B37-14D9F5BB97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146CB8-0A48-4844-BCBA-216FE157624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ASSESSMENT FIT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2144DE-21BC-4FEE-B9CB-7401BBFD30A7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56475-5CBA-4AD3-A659-04D3D80558F4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project directly satisfies the official AI CCP requirements.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095677-C21E-4475-8094-262B5EA248BF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 covers planning, design, implementation, testing, validation, documentation, and presentation criteria.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E7EDE-7E2B-4C75-8C88-96BB936B52CA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76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82EC8B-946B-43C7-93C1-0CB468B83969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Problem &amp; Theme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A2328-9B6B-4402-982F-09DB40B1596E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4095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University timetable generation using AI search and reasoning.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462A7C-6FD0-48E2-982C-954A55C898DE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762500" cy="8763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D0797B-EE68-427A-B1DB-1D84D81F755F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Input Module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147842-22AC-4D9C-814B-580F71AC5746}"/>
              </a:ext>
            </a:extLst>
          </p:cNvPr>
          <p:cNvSpPr>
            <a:spLocks noGrp="1"/>
          </p:cNvSpPr>
          <p:nvPr/>
        </p:nvSpPr>
        <p:spPr>
          <a:xfrm>
            <a:off x="6210300" y="2514600"/>
            <a:ext cx="4095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Teachers, courses, sections, labs, rooms, repeat students and SECTION-WISE data.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385090-E34C-45A9-9F33-2E381F6AD8F8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476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0BEE8A-EA20-478C-B2C9-76B585F4BF4C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AI Logic Module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75308B-AC45-4BDD-A8C2-A52E99802127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4095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CSP checking, backtracking, heuristic ordering and soft scoring.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7DD59E-7503-490A-A342-FE86B8B6FF39}"/>
              </a:ext>
            </a:extLst>
          </p:cNvPr>
          <p:cNvSpPr>
            <a:spLocks noGrp="1"/>
          </p:cNvSpPr>
          <p:nvPr/>
        </p:nvSpPr>
        <p:spPr>
          <a:xfrm>
            <a:off x="6000750" y="3257550"/>
            <a:ext cx="4762500" cy="8763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624425-DE45-44E3-B9C8-EB45070883B6}"/>
              </a:ext>
            </a:extLst>
          </p:cNvPr>
          <p:cNvSpPr>
            <a:spLocks noGrp="1"/>
          </p:cNvSpPr>
          <p:nvPr/>
        </p:nvSpPr>
        <p:spPr>
          <a:xfrm>
            <a:off x="6210300" y="3409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Output Module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5EB36A-589F-470D-9F11-4C501F1018B0}"/>
              </a:ext>
            </a:extLst>
          </p:cNvPr>
          <p:cNvSpPr>
            <a:spLocks noGrp="1"/>
          </p:cNvSpPr>
          <p:nvPr/>
        </p:nvSpPr>
        <p:spPr>
          <a:xfrm>
            <a:off x="6210300" y="3676650"/>
            <a:ext cx="4095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Timetable views, conflict report, quality score, explanations and exports.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194C83-9391-41D2-ACC5-16C5A13DF0F1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476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5FB849-B543-486D-B615-F4718FB655A8}"/>
              </a:ext>
            </a:extLst>
          </p:cNvPr>
          <p:cNvSpPr>
            <a:spLocks noGrp="1"/>
          </p:cNvSpPr>
          <p:nvPr/>
        </p:nvSpPr>
        <p:spPr>
          <a:xfrm>
            <a:off x="876300" y="4572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434B1D-BB29-45BD-AF03-0DEBD8F8BE17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4095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Multiple validation checks: teacher, room, section, repeat-student and lab rules.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739E3F-C43F-4203-BAD9-9BA525FD6140}"/>
              </a:ext>
            </a:extLst>
          </p:cNvPr>
          <p:cNvSpPr>
            <a:spLocks noGrp="1"/>
          </p:cNvSpPr>
          <p:nvPr/>
        </p:nvSpPr>
        <p:spPr>
          <a:xfrm>
            <a:off x="6000750" y="4419600"/>
            <a:ext cx="4762500" cy="8763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741A1-BDEB-442F-99CB-7AD0F08079EC}"/>
              </a:ext>
            </a:extLst>
          </p:cNvPr>
          <p:cNvSpPr>
            <a:spLocks noGrp="1"/>
          </p:cNvSpPr>
          <p:nvPr/>
        </p:nvSpPr>
        <p:spPr>
          <a:xfrm>
            <a:off x="6210300" y="4572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9A5E1-580E-4757-B7DF-4DF4D72A6CE5}"/>
              </a:ext>
            </a:extLst>
          </p:cNvPr>
          <p:cNvSpPr>
            <a:spLocks noGrp="1"/>
          </p:cNvSpPr>
          <p:nvPr/>
        </p:nvSpPr>
        <p:spPr>
          <a:xfrm>
            <a:off x="6210300" y="4838700"/>
            <a:ext cx="4095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 code, SQLite DB, data files, PDF/CSV/ZIP outputs and report notes.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AB8CF1-AD6A-4509-B7F1-4BAD269FE660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77DEA-51C6-41FC-836A-30D8FA565DE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155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86378BD-FB0B-41F4-B281-59A8FB73F8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ACA92-548E-4769-A20A-E02CDE032B0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345A32-D715-45E5-A40C-45A92F4FE9B5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97751-E801-43DE-AF7B-40A1DAC103D9}"/>
              </a:ext>
            </a:extLst>
          </p:cNvPr>
          <p:cNvSpPr>
            <a:spLocks noGrp="1"/>
          </p:cNvSpPr>
          <p:nvPr/>
        </p:nvSpPr>
        <p:spPr>
          <a:xfrm>
            <a:off x="533400" y="79323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Manual timetable generation creates hidden conflicts and unfair student flows.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DFFD4-85FC-4728-AEFA-D790CEBB68EB}"/>
              </a:ext>
            </a:extLst>
          </p:cNvPr>
          <p:cNvSpPr>
            <a:spLocks noGrp="1"/>
          </p:cNvSpPr>
          <p:nvPr/>
        </p:nvSpPr>
        <p:spPr>
          <a:xfrm>
            <a:off x="552450" y="1572405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difficulty is not just placing courses: the system must satisfy people, rooms, labs, repeat students, and academic rules together.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1D7F3-260C-4D73-9B87-AB31BD718536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238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73598-E5D5-4303-A0DE-F044615ACE23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14300" cy="11430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41EA7-8D88-4CAA-B5C2-80992EF1B680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Teacher/Room Clashes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45ECC0-5A72-42EA-B0D2-080D535410CD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2714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teacher or same room can be assigned to multiple sections.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C05ED-A242-4605-ADFF-0054CDF9C020}"/>
              </a:ext>
            </a:extLst>
          </p:cNvPr>
          <p:cNvSpPr>
            <a:spLocks noGrp="1"/>
          </p:cNvSpPr>
          <p:nvPr/>
        </p:nvSpPr>
        <p:spPr>
          <a:xfrm>
            <a:off x="4286250" y="2095500"/>
            <a:ext cx="3238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D78C6-728B-4383-8921-F69491D803C5}"/>
              </a:ext>
            </a:extLst>
          </p:cNvPr>
          <p:cNvSpPr>
            <a:spLocks noGrp="1"/>
          </p:cNvSpPr>
          <p:nvPr/>
        </p:nvSpPr>
        <p:spPr>
          <a:xfrm>
            <a:off x="4476750" y="2286000"/>
            <a:ext cx="114300" cy="11430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82E099-8D65-4F0B-BA25-8D5B668D4876}"/>
              </a:ext>
            </a:extLst>
          </p:cNvPr>
          <p:cNvSpPr>
            <a:spLocks noGrp="1"/>
          </p:cNvSpPr>
          <p:nvPr/>
        </p:nvSpPr>
        <p:spPr>
          <a:xfrm>
            <a:off x="4724400" y="22288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Repeat Students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E4071-B7BD-4D3B-969E-31DB11A5A335}"/>
              </a:ext>
            </a:extLst>
          </p:cNvPr>
          <p:cNvSpPr>
            <a:spLocks noGrp="1"/>
          </p:cNvSpPr>
          <p:nvPr/>
        </p:nvSpPr>
        <p:spPr>
          <a:xfrm>
            <a:off x="4514850" y="2590800"/>
            <a:ext cx="2714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Failed students may attend courses from different semesters.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6D57B8-114F-45A8-8A3A-4272697C92AE}"/>
              </a:ext>
            </a:extLst>
          </p:cNvPr>
          <p:cNvSpPr>
            <a:spLocks noGrp="1"/>
          </p:cNvSpPr>
          <p:nvPr/>
        </p:nvSpPr>
        <p:spPr>
          <a:xfrm>
            <a:off x="7962900" y="2095500"/>
            <a:ext cx="3238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71F8ED-B92D-471C-8F05-158C5BBD4DB8}"/>
              </a:ext>
            </a:extLst>
          </p:cNvPr>
          <p:cNvSpPr>
            <a:spLocks noGrp="1"/>
          </p:cNvSpPr>
          <p:nvPr/>
        </p:nvSpPr>
        <p:spPr>
          <a:xfrm>
            <a:off x="8153400" y="2286000"/>
            <a:ext cx="114300" cy="11430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F6040-8281-4954-AD7C-350658563274}"/>
              </a:ext>
            </a:extLst>
          </p:cNvPr>
          <p:cNvSpPr>
            <a:spLocks noGrp="1"/>
          </p:cNvSpPr>
          <p:nvPr/>
        </p:nvSpPr>
        <p:spPr>
          <a:xfrm>
            <a:off x="8401050" y="22288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Lab Blocks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4B1B85-C66D-45AB-AD16-44275C4AD3CE}"/>
              </a:ext>
            </a:extLst>
          </p:cNvPr>
          <p:cNvSpPr>
            <a:spLocks noGrp="1"/>
          </p:cNvSpPr>
          <p:nvPr/>
        </p:nvSpPr>
        <p:spPr>
          <a:xfrm>
            <a:off x="8191500" y="2590800"/>
            <a:ext cx="2714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Labs require continuous 3-hour room blocks, not scattered slots.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A78718-449B-45A8-8769-F89C4F9924E7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3238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1C7DBE-A7BB-43F4-8FFB-95972F8FA076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114300" cy="1143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2D22B7-0016-4F2D-A8AB-3244E410CC34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Unfair Gaps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D45CE6-98D8-430C-B00D-C52AA3E2CEF5}"/>
              </a:ext>
            </a:extLst>
          </p:cNvPr>
          <p:cNvSpPr>
            <a:spLocks noGrp="1"/>
          </p:cNvSpPr>
          <p:nvPr/>
        </p:nvSpPr>
        <p:spPr>
          <a:xfrm>
            <a:off x="838200" y="4019550"/>
            <a:ext cx="2714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section can get a morning lecture and another late lecture with long idle time.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0B9331-E754-4434-96FF-BB6CB1B592F2}"/>
              </a:ext>
            </a:extLst>
          </p:cNvPr>
          <p:cNvSpPr>
            <a:spLocks noGrp="1"/>
          </p:cNvSpPr>
          <p:nvPr/>
        </p:nvSpPr>
        <p:spPr>
          <a:xfrm>
            <a:off x="4286250" y="3524250"/>
            <a:ext cx="3238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25E207-95D5-4818-A6B3-54CC82CC1F2F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114300" cy="1143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E0C7AD-2121-442E-8038-323101712106}"/>
              </a:ext>
            </a:extLst>
          </p:cNvPr>
          <p:cNvSpPr>
            <a:spLocks noGrp="1"/>
          </p:cNvSpPr>
          <p:nvPr/>
        </p:nvSpPr>
        <p:spPr>
          <a:xfrm>
            <a:off x="4724400" y="36576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Credit-Hour Rules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6CC1B7-541A-46A3-A783-1ED7696262E4}"/>
              </a:ext>
            </a:extLst>
          </p:cNvPr>
          <p:cNvSpPr>
            <a:spLocks noGrp="1"/>
          </p:cNvSpPr>
          <p:nvPr/>
        </p:nvSpPr>
        <p:spPr>
          <a:xfrm>
            <a:off x="4514850" y="4019550"/>
            <a:ext cx="2714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3-credit and 2-credit courses need realistic weekly patterns.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E933BA-8441-4566-9D48-0733ECEE3A5C}"/>
              </a:ext>
            </a:extLst>
          </p:cNvPr>
          <p:cNvSpPr>
            <a:spLocks noGrp="1"/>
          </p:cNvSpPr>
          <p:nvPr/>
        </p:nvSpPr>
        <p:spPr>
          <a:xfrm>
            <a:off x="7962900" y="3524250"/>
            <a:ext cx="3238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FB6DD9-B898-44DE-A13D-B61C2E923F47}"/>
              </a:ext>
            </a:extLst>
          </p:cNvPr>
          <p:cNvSpPr>
            <a:spLocks noGrp="1"/>
          </p:cNvSpPr>
          <p:nvPr/>
        </p:nvSpPr>
        <p:spPr>
          <a:xfrm>
            <a:off x="8153400" y="3714750"/>
            <a:ext cx="114300" cy="1143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31EA8F-F002-4828-AD16-4791D3D0C717}"/>
              </a:ext>
            </a:extLst>
          </p:cNvPr>
          <p:cNvSpPr>
            <a:spLocks noGrp="1"/>
          </p:cNvSpPr>
          <p:nvPr/>
        </p:nvSpPr>
        <p:spPr>
          <a:xfrm>
            <a:off x="8401050" y="36576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No Reasoning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B35853-F047-4FF2-817A-2B255DE78CCA}"/>
              </a:ext>
            </a:extLst>
          </p:cNvPr>
          <p:cNvSpPr>
            <a:spLocks noGrp="1"/>
          </p:cNvSpPr>
          <p:nvPr/>
        </p:nvSpPr>
        <p:spPr>
          <a:xfrm>
            <a:off x="8191500" y="4019550"/>
            <a:ext cx="2714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outputs do not explain why a slot was selected.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E8E062-B4B2-4446-A833-24A0F27E69E9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1CDFB5-2E4F-4515-8222-7DDF05C1F5D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492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ECB2C5F-FFED-4B49-8209-12AA98640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781A26-083B-414B-B153-AAC472B0613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816D3B-6F39-4D14-906B-9478BB94C443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E3C0C1-36F4-45FB-9D00-0E291629B934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ReSched AI turns academic records into a validated, explainable timetable.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0379D3-AB43-4475-8FDA-0185E19D07E7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admin enters/imports data, the AI engine rejects impossible choices, and the app exports usable schedules.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DDF94-EA90-4681-8F70-CBE519EB1F4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DAF851-4E4C-4502-B2BB-7580625A1613}"/>
              </a:ext>
            </a:extLst>
          </p:cNvPr>
          <p:cNvSpPr>
            <a:spLocks noGrp="1"/>
          </p:cNvSpPr>
          <p:nvPr/>
        </p:nvSpPr>
        <p:spPr>
          <a:xfrm>
            <a:off x="838200" y="255270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BFD69D-5814-4572-A07A-FDE0EFC1C5E2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3CB827-5D21-4E2A-BBDE-258622958D76}"/>
              </a:ext>
            </a:extLst>
          </p:cNvPr>
          <p:cNvSpPr>
            <a:spLocks noGrp="1"/>
          </p:cNvSpPr>
          <p:nvPr/>
        </p:nvSpPr>
        <p:spPr>
          <a:xfrm>
            <a:off x="1276350" y="25336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Data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F57FC-D975-497B-8717-2AA13BBB1374}"/>
              </a:ext>
            </a:extLst>
          </p:cNvPr>
          <p:cNvSpPr>
            <a:spLocks noGrp="1"/>
          </p:cNvSpPr>
          <p:nvPr/>
        </p:nvSpPr>
        <p:spPr>
          <a:xfrm>
            <a:off x="857250" y="2914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SECTION-WISE, teachers, rooms, sections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23DF91-2D57-46F4-B949-B031F1250E54}"/>
              </a:ext>
            </a:extLst>
          </p:cNvPr>
          <p:cNvSpPr>
            <a:spLocks noGrp="1"/>
          </p:cNvSpPr>
          <p:nvPr/>
        </p:nvSpPr>
        <p:spPr>
          <a:xfrm>
            <a:off x="3048000" y="2857500"/>
            <a:ext cx="3619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D1260-B3F4-4603-8377-9A0F6B020773}"/>
              </a:ext>
            </a:extLst>
          </p:cNvPr>
          <p:cNvSpPr>
            <a:spLocks noGrp="1"/>
          </p:cNvSpPr>
          <p:nvPr/>
        </p:nvSpPr>
        <p:spPr>
          <a:xfrm>
            <a:off x="2781300" y="2381250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DD481B-3E72-4907-B1CB-B31D1A81B5A6}"/>
              </a:ext>
            </a:extLst>
          </p:cNvPr>
          <p:cNvSpPr>
            <a:spLocks noGrp="1"/>
          </p:cNvSpPr>
          <p:nvPr/>
        </p:nvSpPr>
        <p:spPr>
          <a:xfrm>
            <a:off x="2933700" y="255270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828855-633E-4862-8B96-50F936DF8DAA}"/>
              </a:ext>
            </a:extLst>
          </p:cNvPr>
          <p:cNvSpPr>
            <a:spLocks noGrp="1"/>
          </p:cNvSpPr>
          <p:nvPr/>
        </p:nvSpPr>
        <p:spPr>
          <a:xfrm>
            <a:off x="2933700" y="2609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8A968B-40EE-473D-B3AC-8630C1A1AE45}"/>
              </a:ext>
            </a:extLst>
          </p:cNvPr>
          <p:cNvSpPr>
            <a:spLocks noGrp="1"/>
          </p:cNvSpPr>
          <p:nvPr/>
        </p:nvSpPr>
        <p:spPr>
          <a:xfrm>
            <a:off x="3371850" y="25336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Session Builder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D1B866-8425-41E8-BEB1-FC5C2CC47749}"/>
              </a:ext>
            </a:extLst>
          </p:cNvPr>
          <p:cNvSpPr>
            <a:spLocks noGrp="1"/>
          </p:cNvSpPr>
          <p:nvPr/>
        </p:nvSpPr>
        <p:spPr>
          <a:xfrm>
            <a:off x="2952750" y="2914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Labs, 2+1 theory split, 2-hour blocks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2AD99-BFD5-47FB-A0B1-51270AB9C848}"/>
              </a:ext>
            </a:extLst>
          </p:cNvPr>
          <p:cNvSpPr>
            <a:spLocks noGrp="1"/>
          </p:cNvSpPr>
          <p:nvPr/>
        </p:nvSpPr>
        <p:spPr>
          <a:xfrm>
            <a:off x="5143500" y="2857500"/>
            <a:ext cx="3619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EB436-7343-45B5-9AC7-5C4CBC26B94E}"/>
              </a:ext>
            </a:extLst>
          </p:cNvPr>
          <p:cNvSpPr>
            <a:spLocks noGrp="1"/>
          </p:cNvSpPr>
          <p:nvPr/>
        </p:nvSpPr>
        <p:spPr>
          <a:xfrm>
            <a:off x="4876800" y="2381250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083032-3319-4D0E-95BF-9AEB43FD3C41}"/>
              </a:ext>
            </a:extLst>
          </p:cNvPr>
          <p:cNvSpPr>
            <a:spLocks noGrp="1"/>
          </p:cNvSpPr>
          <p:nvPr/>
        </p:nvSpPr>
        <p:spPr>
          <a:xfrm>
            <a:off x="5029200" y="255270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3B62E0-C534-4F56-8B55-459E0004691A}"/>
              </a:ext>
            </a:extLst>
          </p:cNvPr>
          <p:cNvSpPr>
            <a:spLocks noGrp="1"/>
          </p:cNvSpPr>
          <p:nvPr/>
        </p:nvSpPr>
        <p:spPr>
          <a:xfrm>
            <a:off x="5029200" y="2609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6C38A5-1245-4EAB-AE99-70A42FD85A08}"/>
              </a:ext>
            </a:extLst>
          </p:cNvPr>
          <p:cNvSpPr>
            <a:spLocks noGrp="1"/>
          </p:cNvSpPr>
          <p:nvPr/>
        </p:nvSpPr>
        <p:spPr>
          <a:xfrm>
            <a:off x="5467350" y="25336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CSP Checker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F8A5AB-B0D8-4EF2-B2A0-603009FB7D04}"/>
              </a:ext>
            </a:extLst>
          </p:cNvPr>
          <p:cNvSpPr>
            <a:spLocks noGrp="1"/>
          </p:cNvSpPr>
          <p:nvPr/>
        </p:nvSpPr>
        <p:spPr>
          <a:xfrm>
            <a:off x="5048250" y="2914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Reject clashes and invalid assignments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8C871F-7060-4C89-805A-64D505754A22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3619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2E3735-7F08-4DC1-BA0A-A46C820D57B7}"/>
              </a:ext>
            </a:extLst>
          </p:cNvPr>
          <p:cNvSpPr>
            <a:spLocks noGrp="1"/>
          </p:cNvSpPr>
          <p:nvPr/>
        </p:nvSpPr>
        <p:spPr>
          <a:xfrm>
            <a:off x="6972300" y="2381250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63654E-3445-48FC-9CAF-6789D3A978CA}"/>
              </a:ext>
            </a:extLst>
          </p:cNvPr>
          <p:cNvSpPr>
            <a:spLocks noGrp="1"/>
          </p:cNvSpPr>
          <p:nvPr/>
        </p:nvSpPr>
        <p:spPr>
          <a:xfrm>
            <a:off x="7124700" y="255270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E4D961-8A20-4E41-835A-DE4768A82021}"/>
              </a:ext>
            </a:extLst>
          </p:cNvPr>
          <p:cNvSpPr>
            <a:spLocks noGrp="1"/>
          </p:cNvSpPr>
          <p:nvPr/>
        </p:nvSpPr>
        <p:spPr>
          <a:xfrm>
            <a:off x="7124700" y="2609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111D06-AFDA-4B19-B2BC-BA327E907347}"/>
              </a:ext>
            </a:extLst>
          </p:cNvPr>
          <p:cNvSpPr>
            <a:spLocks noGrp="1"/>
          </p:cNvSpPr>
          <p:nvPr/>
        </p:nvSpPr>
        <p:spPr>
          <a:xfrm>
            <a:off x="7562850" y="25336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Heuristic Scorer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AE9B4F-123B-4656-ACD6-8DDA7014539F}"/>
              </a:ext>
            </a:extLst>
          </p:cNvPr>
          <p:cNvSpPr>
            <a:spLocks noGrp="1"/>
          </p:cNvSpPr>
          <p:nvPr/>
        </p:nvSpPr>
        <p:spPr>
          <a:xfrm>
            <a:off x="7143750" y="2914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Choose compact and fair slots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07FCE5-993C-4CA2-BB68-13266F28999F}"/>
              </a:ext>
            </a:extLst>
          </p:cNvPr>
          <p:cNvSpPr>
            <a:spLocks noGrp="1"/>
          </p:cNvSpPr>
          <p:nvPr/>
        </p:nvSpPr>
        <p:spPr>
          <a:xfrm>
            <a:off x="9334500" y="2857500"/>
            <a:ext cx="3619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F835B2-6071-4617-81EC-DF8F91211E11}"/>
              </a:ext>
            </a:extLst>
          </p:cNvPr>
          <p:cNvSpPr>
            <a:spLocks noGrp="1"/>
          </p:cNvSpPr>
          <p:nvPr/>
        </p:nvSpPr>
        <p:spPr>
          <a:xfrm>
            <a:off x="9067800" y="2381250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F902C0-EAFC-41C8-A56F-3E29B16F1EA1}"/>
              </a:ext>
            </a:extLst>
          </p:cNvPr>
          <p:cNvSpPr>
            <a:spLocks noGrp="1"/>
          </p:cNvSpPr>
          <p:nvPr/>
        </p:nvSpPr>
        <p:spPr>
          <a:xfrm>
            <a:off x="9220200" y="2552700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209943-E47E-458D-B97E-626A5B4BEFC5}"/>
              </a:ext>
            </a:extLst>
          </p:cNvPr>
          <p:cNvSpPr>
            <a:spLocks noGrp="1"/>
          </p:cNvSpPr>
          <p:nvPr/>
        </p:nvSpPr>
        <p:spPr>
          <a:xfrm>
            <a:off x="9220200" y="26098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AB8FD6-B708-4EA8-BF26-AE12FBE6D830}"/>
              </a:ext>
            </a:extLst>
          </p:cNvPr>
          <p:cNvSpPr>
            <a:spLocks noGrp="1"/>
          </p:cNvSpPr>
          <p:nvPr/>
        </p:nvSpPr>
        <p:spPr>
          <a:xfrm>
            <a:off x="9658350" y="25336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Timetable Export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18157C-0946-423F-97C2-B274BA0D8658}"/>
              </a:ext>
            </a:extLst>
          </p:cNvPr>
          <p:cNvSpPr>
            <a:spLocks noGrp="1"/>
          </p:cNvSpPr>
          <p:nvPr/>
        </p:nvSpPr>
        <p:spPr>
          <a:xfrm>
            <a:off x="9239250" y="2914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PDF, ZIP, CSV and explanation panel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CC1CBA-AC50-484A-AE84-1479367FDECE}"/>
              </a:ext>
            </a:extLst>
          </p:cNvPr>
          <p:cNvSpPr>
            <a:spLocks noGrp="1"/>
          </p:cNvSpPr>
          <p:nvPr/>
        </p:nvSpPr>
        <p:spPr>
          <a:xfrm>
            <a:off x="1123950" y="4286250"/>
            <a:ext cx="9906000" cy="800100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097034-0B9F-4464-BE93-BD411BEEDE1F}"/>
              </a:ext>
            </a:extLst>
          </p:cNvPr>
          <p:cNvSpPr>
            <a:spLocks noGrp="1"/>
          </p:cNvSpPr>
          <p:nvPr/>
        </p:nvSpPr>
        <p:spPr>
          <a:xfrm>
            <a:off x="1447800" y="451485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output: conflict-free timetable with quality score, report, and explainable reasoning for each slot.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42A6D-D72D-4D75-A660-1696387F19C2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F76E75-20AF-4EBC-8384-B3B29F09AA9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73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80776C2-E341-4151-914D-2EC2047411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59E5F3-3D26-4449-AB73-4D191C14012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5C776-9BED-45A7-BB9E-6F3ABE4FA2E5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C4BA1-CD29-4381-9BF2-E71DB2170470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Real SECTION-WISE records anchor the demo in university-style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68D097-1D1C-4601-BA1B-63CD2EB9FE41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final presentation keeps the project focused on extracted academic data, not fake sample-only records.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8D48F-880F-4314-977A-F7F68A4457D7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1714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1B4C28-7568-480F-B9BC-8726DEA7FC3E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66675" cy="10001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5FA95-7BC6-4F8A-8A29-6560456A4157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409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B428E-3E40-4699-B617-065639C1D805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Sections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B7D48D-2C95-409D-80CA-F176B4E34593}"/>
              </a:ext>
            </a:extLst>
          </p:cNvPr>
          <p:cNvSpPr>
            <a:spLocks noGrp="1"/>
          </p:cNvSpPr>
          <p:nvPr/>
        </p:nvSpPr>
        <p:spPr>
          <a:xfrm>
            <a:off x="2571750" y="2190750"/>
            <a:ext cx="1714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5C1B9-B244-4206-A129-08A5D0D3E570}"/>
              </a:ext>
            </a:extLst>
          </p:cNvPr>
          <p:cNvSpPr>
            <a:spLocks noGrp="1"/>
          </p:cNvSpPr>
          <p:nvPr/>
        </p:nvSpPr>
        <p:spPr>
          <a:xfrm>
            <a:off x="2571750" y="2190750"/>
            <a:ext cx="66675" cy="100012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8A8421-418D-4996-8B83-0F496594AA28}"/>
              </a:ext>
            </a:extLst>
          </p:cNvPr>
          <p:cNvSpPr>
            <a:spLocks noGrp="1"/>
          </p:cNvSpPr>
          <p:nvPr/>
        </p:nvSpPr>
        <p:spPr>
          <a:xfrm>
            <a:off x="2762250" y="2362200"/>
            <a:ext cx="1409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52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A8917D-6D67-4E04-8227-519F432EA552}"/>
              </a:ext>
            </a:extLst>
          </p:cNvPr>
          <p:cNvSpPr>
            <a:spLocks noGrp="1"/>
          </p:cNvSpPr>
          <p:nvPr/>
        </p:nvSpPr>
        <p:spPr>
          <a:xfrm>
            <a:off x="2781300" y="27813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Courses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85CD49-6B51-4511-B1C4-E34E5F830ED6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1714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BB5552-B62F-483B-B632-088FE9F424B3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66675" cy="10001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1680C0-963B-4403-B22C-82C70FA452AC}"/>
              </a:ext>
            </a:extLst>
          </p:cNvPr>
          <p:cNvSpPr>
            <a:spLocks noGrp="1"/>
          </p:cNvSpPr>
          <p:nvPr/>
        </p:nvSpPr>
        <p:spPr>
          <a:xfrm>
            <a:off x="4667250" y="2362200"/>
            <a:ext cx="1409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048BA3-AF6E-4723-84C3-3AEA8196A647}"/>
              </a:ext>
            </a:extLst>
          </p:cNvPr>
          <p:cNvSpPr>
            <a:spLocks noGrp="1"/>
          </p:cNvSpPr>
          <p:nvPr/>
        </p:nvSpPr>
        <p:spPr>
          <a:xfrm>
            <a:off x="4686300" y="27813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20C497-326D-4DF0-AA54-DD06C02ECAF5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1714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73EB77-D35D-454D-9671-F92A0B0F6964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66675" cy="100012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A5812-923D-453F-9AC8-34F4C55E597E}"/>
              </a:ext>
            </a:extLst>
          </p:cNvPr>
          <p:cNvSpPr>
            <a:spLocks noGrp="1"/>
          </p:cNvSpPr>
          <p:nvPr/>
        </p:nvSpPr>
        <p:spPr>
          <a:xfrm>
            <a:off x="6572250" y="2362200"/>
            <a:ext cx="1409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E070DC-3EE8-4051-B7E8-2F7EA8392600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Rooms/Labs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6E0FC8-8735-43AB-85C8-1DA87110C9DF}"/>
              </a:ext>
            </a:extLst>
          </p:cNvPr>
          <p:cNvSpPr>
            <a:spLocks noGrp="1"/>
          </p:cNvSpPr>
          <p:nvPr/>
        </p:nvSpPr>
        <p:spPr>
          <a:xfrm>
            <a:off x="8286750" y="2190750"/>
            <a:ext cx="1714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29BBE6-BE19-431F-9E7A-BE4BF5AD0070}"/>
              </a:ext>
            </a:extLst>
          </p:cNvPr>
          <p:cNvSpPr>
            <a:spLocks noGrp="1"/>
          </p:cNvSpPr>
          <p:nvPr/>
        </p:nvSpPr>
        <p:spPr>
          <a:xfrm>
            <a:off x="8286750" y="2190750"/>
            <a:ext cx="66675" cy="10001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99505E-B6CE-44E0-9F29-0B4AE11DECF2}"/>
              </a:ext>
            </a:extLst>
          </p:cNvPr>
          <p:cNvSpPr>
            <a:spLocks noGrp="1"/>
          </p:cNvSpPr>
          <p:nvPr/>
        </p:nvSpPr>
        <p:spPr>
          <a:xfrm>
            <a:off x="8477250" y="2362200"/>
            <a:ext cx="1409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3A04EE-215A-4766-A81A-1539B6F84EB1}"/>
              </a:ext>
            </a:extLst>
          </p:cNvPr>
          <p:cNvSpPr>
            <a:spLocks noGrp="1"/>
          </p:cNvSpPr>
          <p:nvPr/>
        </p:nvSpPr>
        <p:spPr>
          <a:xfrm>
            <a:off x="8496300" y="27813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Mappings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DAE1A0-9721-4F75-8257-3F2E888F6F14}"/>
              </a:ext>
            </a:extLst>
          </p:cNvPr>
          <p:cNvSpPr>
            <a:spLocks noGrp="1"/>
          </p:cNvSpPr>
          <p:nvPr/>
        </p:nvSpPr>
        <p:spPr>
          <a:xfrm>
            <a:off x="10191750" y="2190750"/>
            <a:ext cx="142875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E87969-3300-4C8F-BA50-AF1E18ED5EEF}"/>
              </a:ext>
            </a:extLst>
          </p:cNvPr>
          <p:cNvSpPr>
            <a:spLocks noGrp="1"/>
          </p:cNvSpPr>
          <p:nvPr/>
        </p:nvSpPr>
        <p:spPr>
          <a:xfrm>
            <a:off x="10191750" y="2190750"/>
            <a:ext cx="66675" cy="100012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4F6558-2F6C-469E-8C97-B45B2158DA5A}"/>
              </a:ext>
            </a:extLst>
          </p:cNvPr>
          <p:cNvSpPr>
            <a:spLocks noGrp="1"/>
          </p:cNvSpPr>
          <p:nvPr/>
        </p:nvSpPr>
        <p:spPr>
          <a:xfrm>
            <a:off x="10382250" y="2362200"/>
            <a:ext cx="1123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149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1621D3-B7D5-4AAF-9FAF-5EC47DA34644}"/>
              </a:ext>
            </a:extLst>
          </p:cNvPr>
          <p:cNvSpPr>
            <a:spLocks noGrp="1"/>
          </p:cNvSpPr>
          <p:nvPr/>
        </p:nvSpPr>
        <p:spPr>
          <a:xfrm>
            <a:off x="10401300" y="2781300"/>
            <a:ext cx="1085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A1CCD3-BB9E-48B5-8BC0-F3F65FB667DD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10363200" cy="10477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FB4AC8-1104-4DE9-966D-DF3FA4B5AF21}"/>
              </a:ext>
            </a:extLst>
          </p:cNvPr>
          <p:cNvSpPr>
            <a:spLocks noGrp="1"/>
          </p:cNvSpPr>
          <p:nvPr/>
        </p:nvSpPr>
        <p:spPr>
          <a:xfrm>
            <a:off x="1162050" y="4133850"/>
            <a:ext cx="942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Imported data includes section names, degree/cohort, course code/title, theory/lab type, credit hours, contact hours, assigned faculty, classrooms, and labs.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74CF52-8C7E-4307-88B6-8981B32BC5B7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7D1E0D-D387-4D2D-9550-D816949F302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983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6FEF0A1-FCD7-4254-A442-5C5A6C6605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8186B-5B88-4A0C-B07B-A0C129C6AFD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3B90AB-8C02-47F5-8E1B-10193FFE77B0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414DA6-1BC8-46C9-8CC6-A1282210CDC1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Correct representation is what makes the timetable solvable.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0E434-D116-44CC-A416-36A14AB77543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entity stores the minimum data needed for constraint checking and explanations.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5E7EFD-EDF6-4B4F-AF9D-564EAF2F0AFD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2857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85B0C-017E-454D-91CE-6EA346BC77D5}"/>
              </a:ext>
            </a:extLst>
          </p:cNvPr>
          <p:cNvSpPr>
            <a:spLocks noGrp="1"/>
          </p:cNvSpPr>
          <p:nvPr/>
        </p:nvSpPr>
        <p:spPr>
          <a:xfrm>
            <a:off x="1047750" y="23145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98CD0-58C1-4432-9BBF-3CD3B1C18F65}"/>
              </a:ext>
            </a:extLst>
          </p:cNvPr>
          <p:cNvSpPr>
            <a:spLocks noGrp="1"/>
          </p:cNvSpPr>
          <p:nvPr/>
        </p:nvSpPr>
        <p:spPr>
          <a:xfrm>
            <a:off x="1047750" y="2619375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expertise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availability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max/day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46EAF-D7E7-459C-8A65-76FBB94748E8}"/>
              </a:ext>
            </a:extLst>
          </p:cNvPr>
          <p:cNvSpPr>
            <a:spLocks noGrp="1"/>
          </p:cNvSpPr>
          <p:nvPr/>
        </p:nvSpPr>
        <p:spPr>
          <a:xfrm>
            <a:off x="4362450" y="2143125"/>
            <a:ext cx="2857500" cy="1123950"/>
          </a:xfrm>
          <a:prstGeom prst="rect">
            <a:avLst/>
          </a:prstGeom>
          <a:solidFill>
            <a:srgbClr val="EAF2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E80621-A90C-4231-B7BC-5F052DF603AF}"/>
              </a:ext>
            </a:extLst>
          </p:cNvPr>
          <p:cNvSpPr>
            <a:spLocks noGrp="1"/>
          </p:cNvSpPr>
          <p:nvPr/>
        </p:nvSpPr>
        <p:spPr>
          <a:xfrm>
            <a:off x="4572000" y="23145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5F9D8-5337-4A68-8250-D5BA7A14F895}"/>
              </a:ext>
            </a:extLst>
          </p:cNvPr>
          <p:cNvSpPr>
            <a:spLocks noGrp="1"/>
          </p:cNvSpPr>
          <p:nvPr/>
        </p:nvSpPr>
        <p:spPr>
          <a:xfrm>
            <a:off x="4572000" y="2619375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code/title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type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credits/contact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5A0346-DE73-48F2-AF4B-298BEDFBCC22}"/>
              </a:ext>
            </a:extLst>
          </p:cNvPr>
          <p:cNvSpPr>
            <a:spLocks noGrp="1"/>
          </p:cNvSpPr>
          <p:nvPr/>
        </p:nvSpPr>
        <p:spPr>
          <a:xfrm>
            <a:off x="7886700" y="2143125"/>
            <a:ext cx="2857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E2D57-0560-444F-8930-934F11C6E344}"/>
              </a:ext>
            </a:extLst>
          </p:cNvPr>
          <p:cNvSpPr>
            <a:spLocks noGrp="1"/>
          </p:cNvSpPr>
          <p:nvPr/>
        </p:nvSpPr>
        <p:spPr>
          <a:xfrm>
            <a:off x="8096250" y="23145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0BF23A-90A0-4AF4-A720-30DABC253552}"/>
              </a:ext>
            </a:extLst>
          </p:cNvPr>
          <p:cNvSpPr>
            <a:spLocks noGrp="1"/>
          </p:cNvSpPr>
          <p:nvPr/>
        </p:nvSpPr>
        <p:spPr>
          <a:xfrm>
            <a:off x="8096250" y="2619375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program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semester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required courses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E0A1AE-36E1-43F2-B31C-DFAA880D57E5}"/>
              </a:ext>
            </a:extLst>
          </p:cNvPr>
          <p:cNvSpPr>
            <a:spLocks noGrp="1"/>
          </p:cNvSpPr>
          <p:nvPr/>
        </p:nvSpPr>
        <p:spPr>
          <a:xfrm>
            <a:off x="838200" y="3667125"/>
            <a:ext cx="2857500" cy="1123950"/>
          </a:xfrm>
          <a:prstGeom prst="rect">
            <a:avLst/>
          </a:prstGeom>
          <a:solidFill>
            <a:srgbClr val="EAF2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EF2541-AD59-4E09-A811-D6874E8B2DBD}"/>
              </a:ext>
            </a:extLst>
          </p:cNvPr>
          <p:cNvSpPr>
            <a:spLocks noGrp="1"/>
          </p:cNvSpPr>
          <p:nvPr/>
        </p:nvSpPr>
        <p:spPr>
          <a:xfrm>
            <a:off x="1047750" y="38385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Room/Lab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CE4503-217E-4295-972D-DE8F55F9D668}"/>
              </a:ext>
            </a:extLst>
          </p:cNvPr>
          <p:cNvSpPr>
            <a:spLocks noGrp="1"/>
          </p:cNvSpPr>
          <p:nvPr/>
        </p:nvSpPr>
        <p:spPr>
          <a:xfrm>
            <a:off x="1047750" y="4143375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type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capacity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availability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36C302-5398-45C3-B456-BE355F7E34EE}"/>
              </a:ext>
            </a:extLst>
          </p:cNvPr>
          <p:cNvSpPr>
            <a:spLocks noGrp="1"/>
          </p:cNvSpPr>
          <p:nvPr/>
        </p:nvSpPr>
        <p:spPr>
          <a:xfrm>
            <a:off x="4362450" y="3667125"/>
            <a:ext cx="2857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EAFAC2-C789-4C9D-9918-C8454A423681}"/>
              </a:ext>
            </a:extLst>
          </p:cNvPr>
          <p:cNvSpPr>
            <a:spLocks noGrp="1"/>
          </p:cNvSpPr>
          <p:nvPr/>
        </p:nvSpPr>
        <p:spPr>
          <a:xfrm>
            <a:off x="4572000" y="38385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Repeat Student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72E847-2034-4A35-96AE-FF63DA8C5A7D}"/>
              </a:ext>
            </a:extLst>
          </p:cNvPr>
          <p:cNvSpPr>
            <a:spLocks noGrp="1"/>
          </p:cNvSpPr>
          <p:nvPr/>
        </p:nvSpPr>
        <p:spPr>
          <a:xfrm>
            <a:off x="4572000" y="4143375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current section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repeated course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51970F-241D-4508-AD47-FE452331096F}"/>
              </a:ext>
            </a:extLst>
          </p:cNvPr>
          <p:cNvSpPr>
            <a:spLocks noGrp="1"/>
          </p:cNvSpPr>
          <p:nvPr/>
        </p:nvSpPr>
        <p:spPr>
          <a:xfrm>
            <a:off x="7886700" y="3667125"/>
            <a:ext cx="2857500" cy="1123950"/>
          </a:xfrm>
          <a:prstGeom prst="rect">
            <a:avLst/>
          </a:prstGeom>
          <a:solidFill>
            <a:srgbClr val="EAF2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A4A484-FF11-41F6-8A79-A22C3660BC3E}"/>
              </a:ext>
            </a:extLst>
          </p:cNvPr>
          <p:cNvSpPr>
            <a:spLocks noGrp="1"/>
          </p:cNvSpPr>
          <p:nvPr/>
        </p:nvSpPr>
        <p:spPr>
          <a:xfrm>
            <a:off x="8096250" y="38385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Timetable Entry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714E1-2F9A-4422-8E7C-E21E7A9B8243}"/>
              </a:ext>
            </a:extLst>
          </p:cNvPr>
          <p:cNvSpPr>
            <a:spLocks noGrp="1"/>
          </p:cNvSpPr>
          <p:nvPr/>
        </p:nvSpPr>
        <p:spPr>
          <a:xfrm>
            <a:off x="8096250" y="4143375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 + room + day + time</a:t>
            </a:r>
          </a:p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3F644B-DB6F-4CC6-B3D3-CF4A3A3E441F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63B959-70D8-416F-A67E-91BF00D36E5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511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68E5522-49CE-4569-AACD-D959E692B7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D558EF-C15B-4CAE-A959-F6BCB3BEFE0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HARD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21804-9CC8-4D94-9C55-4B3F73BB7F3C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FED4E-3F55-4052-BF0E-2BF0D7099A11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scheduler accepts a slot only when non-negotiable rules pass.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0C595-1FE1-4FA4-84BD-6170A24D1732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These rules define correctness: if any hard constraint fails, the candidate is rejected.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D29F19-09CC-4573-8BF3-B37AEB724C9E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2286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34FB82-4173-4AEA-BDC0-85E1E8138EDE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22860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CD269C-6467-4C03-BF68-3DE386AA7CD7}"/>
              </a:ext>
            </a:extLst>
          </p:cNvPr>
          <p:cNvSpPr>
            <a:spLocks noGrp="1"/>
          </p:cNvSpPr>
          <p:nvPr/>
        </p:nvSpPr>
        <p:spPr>
          <a:xfrm>
            <a:off x="971550" y="24574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909A80-507E-44D1-B6FF-D2674C694596}"/>
              </a:ext>
            </a:extLst>
          </p:cNvPr>
          <p:cNvSpPr>
            <a:spLocks noGrp="1"/>
          </p:cNvSpPr>
          <p:nvPr/>
        </p:nvSpPr>
        <p:spPr>
          <a:xfrm>
            <a:off x="971550" y="2895600"/>
            <a:ext cx="1809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 not double-booked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Section not double-booked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 student no clash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CC7C4-A6DF-43C6-90C7-39F9C04A3361}"/>
              </a:ext>
            </a:extLst>
          </p:cNvPr>
          <p:cNvSpPr>
            <a:spLocks noGrp="1"/>
          </p:cNvSpPr>
          <p:nvPr/>
        </p:nvSpPr>
        <p:spPr>
          <a:xfrm>
            <a:off x="3524250" y="2171700"/>
            <a:ext cx="2286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E9238-0F85-4A0D-9DD0-F9BBED0A8D72}"/>
              </a:ext>
            </a:extLst>
          </p:cNvPr>
          <p:cNvSpPr>
            <a:spLocks noGrp="1"/>
          </p:cNvSpPr>
          <p:nvPr/>
        </p:nvSpPr>
        <p:spPr>
          <a:xfrm>
            <a:off x="3524250" y="2171700"/>
            <a:ext cx="2286000" cy="762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F4988C-AB8A-4D0F-9E18-E92114DC831E}"/>
              </a:ext>
            </a:extLst>
          </p:cNvPr>
          <p:cNvSpPr>
            <a:spLocks noGrp="1"/>
          </p:cNvSpPr>
          <p:nvPr/>
        </p:nvSpPr>
        <p:spPr>
          <a:xfrm>
            <a:off x="3733800" y="24574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Rooms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502775-2E0A-4B1B-A60A-8C768DD3A112}"/>
              </a:ext>
            </a:extLst>
          </p:cNvPr>
          <p:cNvSpPr>
            <a:spLocks noGrp="1"/>
          </p:cNvSpPr>
          <p:nvPr/>
        </p:nvSpPr>
        <p:spPr>
          <a:xfrm>
            <a:off x="3733800" y="2895600"/>
            <a:ext cx="1809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Room/lab not double-booked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 courses in labs only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Theory courses in classrooms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A4422-92BC-4DE6-9253-5E7DF4BF898E}"/>
              </a:ext>
            </a:extLst>
          </p:cNvPr>
          <p:cNvSpPr>
            <a:spLocks noGrp="1"/>
          </p:cNvSpPr>
          <p:nvPr/>
        </p:nvSpPr>
        <p:spPr>
          <a:xfrm>
            <a:off x="6286500" y="2171700"/>
            <a:ext cx="2286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581143-87B1-4C26-8520-2387589280BB}"/>
              </a:ext>
            </a:extLst>
          </p:cNvPr>
          <p:cNvSpPr>
            <a:spLocks noGrp="1"/>
          </p:cNvSpPr>
          <p:nvPr/>
        </p:nvSpPr>
        <p:spPr>
          <a:xfrm>
            <a:off x="6286500" y="2171700"/>
            <a:ext cx="2286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929BD-F3EF-404A-B68B-0686C25EAE8F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Fit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0D6A3E-E422-47BD-BD3A-C8D030861E76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809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Capacity enough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 eligible + available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course keeps same teacher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B5EE5-4C53-459A-B3AC-780D44D3D974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286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AE8066-61C8-45EE-ADE1-99474CBC7E4D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286000" cy="7620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200B33-4E76-458E-B8BC-E26FD0D9F82E}"/>
              </a:ext>
            </a:extLst>
          </p:cNvPr>
          <p:cNvSpPr>
            <a:spLocks noGrp="1"/>
          </p:cNvSpPr>
          <p:nvPr/>
        </p:nvSpPr>
        <p:spPr>
          <a:xfrm>
            <a:off x="9258300" y="24574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Time Rules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0FF74E-E51D-40D6-919B-A12D7EB6D114}"/>
              </a:ext>
            </a:extLst>
          </p:cNvPr>
          <p:cNvSpPr>
            <a:spLocks noGrp="1"/>
          </p:cNvSpPr>
          <p:nvPr/>
        </p:nvSpPr>
        <p:spPr>
          <a:xfrm>
            <a:off x="9258300" y="2895600"/>
            <a:ext cx="1809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Labs continuous 3 slots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3-credit = 2+1 split</a:t>
            </a:r>
          </a:p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Break / Friday buffer protected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83EAB5-B3F6-41FA-8275-75C3AE5847D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77FB80-1D11-439F-8996-BDDB23C365D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5080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0926C5-B2B7-44FF-8840-655910D09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324E8E-4E7F-47CE-8247-861977B8F80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ACADEMIC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EEB309-81CB-4BE1-9EF9-600A79366104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27ED92-4134-48E5-9201-6E661E9A0E91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Credit and contact hours are converted into realistic weekly sessions.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2FEAE-5388-4650-8930-7B6DB6FD403B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avoids artificial timetables where lectures are scattered or labs are shortened.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F15DD-BD9B-43B9-B786-E07C0C2F77B8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10287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84BDF-867A-49A3-97D3-2CCCEBCE402D}"/>
              </a:ext>
            </a:extLst>
          </p:cNvPr>
          <p:cNvSpPr>
            <a:spLocks noGrp="1"/>
          </p:cNvSpPr>
          <p:nvPr/>
        </p:nvSpPr>
        <p:spPr>
          <a:xfrm>
            <a:off x="1200150" y="22955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6990C9-84F8-404E-B4B3-5BE49A2B40F0}"/>
              </a:ext>
            </a:extLst>
          </p:cNvPr>
          <p:cNvSpPr>
            <a:spLocks noGrp="1"/>
          </p:cNvSpPr>
          <p:nvPr/>
        </p:nvSpPr>
        <p:spPr>
          <a:xfrm>
            <a:off x="3581400" y="22955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 credit / 3 contact hours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92D7DF-B53D-44D1-A3C6-066F83241A5D}"/>
              </a:ext>
            </a:extLst>
          </p:cNvPr>
          <p:cNvSpPr>
            <a:spLocks noGrp="1"/>
          </p:cNvSpPr>
          <p:nvPr/>
        </p:nvSpPr>
        <p:spPr>
          <a:xfrm>
            <a:off x="6438900" y="228600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continuous 3-slot block in a lab room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0FC21-EF34-4D5B-A69F-228B98808FEE}"/>
              </a:ext>
            </a:extLst>
          </p:cNvPr>
          <p:cNvSpPr>
            <a:spLocks noGrp="1"/>
          </p:cNvSpPr>
          <p:nvPr/>
        </p:nvSpPr>
        <p:spPr>
          <a:xfrm>
            <a:off x="952500" y="2914650"/>
            <a:ext cx="10287000" cy="5905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C9E81-4351-4932-A397-A3BE4768CEFE}"/>
              </a:ext>
            </a:extLst>
          </p:cNvPr>
          <p:cNvSpPr>
            <a:spLocks noGrp="1"/>
          </p:cNvSpPr>
          <p:nvPr/>
        </p:nvSpPr>
        <p:spPr>
          <a:xfrm>
            <a:off x="1200150" y="307657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3-credit theory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A6F15D-2703-4069-97BD-27F1E0C37168}"/>
              </a:ext>
            </a:extLst>
          </p:cNvPr>
          <p:cNvSpPr>
            <a:spLocks noGrp="1"/>
          </p:cNvSpPr>
          <p:nvPr/>
        </p:nvSpPr>
        <p:spPr>
          <a:xfrm>
            <a:off x="3581400" y="30765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contact hours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4CF634-64E2-440B-BC96-951743F086C9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2-hour block + one 1-hour lecture on another day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BF6C9A-5926-4501-9ACC-9326AE631D16}"/>
              </a:ext>
            </a:extLst>
          </p:cNvPr>
          <p:cNvSpPr>
            <a:spLocks noGrp="1"/>
          </p:cNvSpPr>
          <p:nvPr/>
        </p:nvSpPr>
        <p:spPr>
          <a:xfrm>
            <a:off x="952500" y="3695700"/>
            <a:ext cx="10287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413C86-0458-4CB4-BB5F-FA931CD1075A}"/>
              </a:ext>
            </a:extLst>
          </p:cNvPr>
          <p:cNvSpPr>
            <a:spLocks noGrp="1"/>
          </p:cNvSpPr>
          <p:nvPr/>
        </p:nvSpPr>
        <p:spPr>
          <a:xfrm>
            <a:off x="1200150" y="38576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2-credit theory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B6EB55-8678-4EA4-A59E-398185A280B5}"/>
              </a:ext>
            </a:extLst>
          </p:cNvPr>
          <p:cNvSpPr>
            <a:spLocks noGrp="1"/>
          </p:cNvSpPr>
          <p:nvPr/>
        </p:nvSpPr>
        <p:spPr>
          <a:xfrm>
            <a:off x="3581400" y="38576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 contact hours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01B019-67CF-4F31-92D8-471E067500CA}"/>
              </a:ext>
            </a:extLst>
          </p:cNvPr>
          <p:cNvSpPr>
            <a:spLocks noGrp="1"/>
          </p:cNvSpPr>
          <p:nvPr/>
        </p:nvSpPr>
        <p:spPr>
          <a:xfrm>
            <a:off x="6438900" y="384810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continuous 2-hour block where feasible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43E487-847C-4864-B177-DB231501939B}"/>
              </a:ext>
            </a:extLst>
          </p:cNvPr>
          <p:cNvSpPr>
            <a:spLocks noGrp="1"/>
          </p:cNvSpPr>
          <p:nvPr/>
        </p:nvSpPr>
        <p:spPr>
          <a:xfrm>
            <a:off x="952500" y="4476750"/>
            <a:ext cx="10287000" cy="5905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2BA05B-0CAE-4DF3-9001-8B795D457CC4}"/>
              </a:ext>
            </a:extLst>
          </p:cNvPr>
          <p:cNvSpPr>
            <a:spLocks noGrp="1"/>
          </p:cNvSpPr>
          <p:nvPr/>
        </p:nvSpPr>
        <p:spPr>
          <a:xfrm>
            <a:off x="1200150" y="463867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Same section-course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65BE67-AF3C-4FF4-9262-5C86FC0486EB}"/>
              </a:ext>
            </a:extLst>
          </p:cNvPr>
          <p:cNvSpPr>
            <a:spLocks noGrp="1"/>
          </p:cNvSpPr>
          <p:nvPr/>
        </p:nvSpPr>
        <p:spPr>
          <a:xfrm>
            <a:off x="3581400" y="46386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All weekly sessions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4D102A-774A-40EE-BDD3-B4CE2DA1A4A2}"/>
              </a:ext>
            </a:extLst>
          </p:cNvPr>
          <p:cNvSpPr>
            <a:spLocks noGrp="1"/>
          </p:cNvSpPr>
          <p:nvPr/>
        </p:nvSpPr>
        <p:spPr>
          <a:xfrm>
            <a:off x="6438900" y="462915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assigned teacher throughout the week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4BDE95-89D4-4368-988F-201E6729FCA5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374EA6-0954-408A-B585-91DB9FB1C424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5422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B1ED31B-5216-41EB-8807-BE97CC52D5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3E967B-B129-4E8A-BBA8-661F5EE40E1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SOFT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B1D9F-9382-498D-8483-8694095932CB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34CA9C-DEF2-4C14-9712-FFC1C5CACE76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Once a timetable is valid, the engine still improves its quality.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77B257-E403-477C-9A9F-323346F4C720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 rules do not break feasibility; they choose better schedules among many valid options.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43F15B-3B35-46D5-B59B-C60B847EF1EC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Compactness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CB295-2596-450B-B5B7-01DBEF2F7000}"/>
              </a:ext>
            </a:extLst>
          </p:cNvPr>
          <p:cNvSpPr>
            <a:spLocks noGrp="1"/>
          </p:cNvSpPr>
          <p:nvPr/>
        </p:nvSpPr>
        <p:spPr>
          <a:xfrm>
            <a:off x="2857500" y="2266950"/>
            <a:ext cx="5715000" cy="114300"/>
          </a:xfrm>
          <a:prstGeom prst="rect">
            <a:avLst/>
          </a:prstGeom>
          <a:solidFill>
            <a:srgbClr val="E5EA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049F99-064E-426F-9CDF-9420BD8674C0}"/>
              </a:ext>
            </a:extLst>
          </p:cNvPr>
          <p:cNvSpPr>
            <a:spLocks noGrp="1"/>
          </p:cNvSpPr>
          <p:nvPr/>
        </p:nvSpPr>
        <p:spPr>
          <a:xfrm>
            <a:off x="2857500" y="2266950"/>
            <a:ext cx="4686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5FC31-34D5-498E-A3A4-BCAB841753B5}"/>
              </a:ext>
            </a:extLst>
          </p:cNvPr>
          <p:cNvSpPr>
            <a:spLocks noGrp="1"/>
          </p:cNvSpPr>
          <p:nvPr/>
        </p:nvSpPr>
        <p:spPr>
          <a:xfrm>
            <a:off x="8810625" y="21717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82%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9DB2D-5C91-43DA-90E9-ACCE9CE274F3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Early Release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7C0BAC-2D12-402F-AAE2-5811103B25A5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5715000" cy="114300"/>
          </a:xfrm>
          <a:prstGeom prst="rect">
            <a:avLst/>
          </a:prstGeom>
          <a:solidFill>
            <a:srgbClr val="E5EA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BD1B5-5248-459B-9786-02E620F14448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4457700" cy="1143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731658-F6C0-48B0-8256-C11668415040}"/>
              </a:ext>
            </a:extLst>
          </p:cNvPr>
          <p:cNvSpPr>
            <a:spLocks noGrp="1"/>
          </p:cNvSpPr>
          <p:nvPr/>
        </p:nvSpPr>
        <p:spPr>
          <a:xfrm>
            <a:off x="8810625" y="27622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F5B8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B841"/>
                </a:solidFill>
                <a:latin typeface="Aptos"/>
                <a:ea typeface="Aptos"/>
                <a:cs typeface="Aptos"/>
              </a:rPr>
              <a:t>78%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D1899-76FE-4110-B4AB-CC542E5B2B69}"/>
              </a:ext>
            </a:extLst>
          </p:cNvPr>
          <p:cNvSpPr>
            <a:spLocks noGrp="1"/>
          </p:cNvSpPr>
          <p:nvPr/>
        </p:nvSpPr>
        <p:spPr>
          <a:xfrm>
            <a:off x="952500" y="33718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Teacher Balance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139EE1-DA40-40AF-9270-DC3D71379BED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5715000" cy="114300"/>
          </a:xfrm>
          <a:prstGeom prst="rect">
            <a:avLst/>
          </a:prstGeom>
          <a:solidFill>
            <a:srgbClr val="E5EA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15D13E-7D4A-4DA4-BEDF-6A96B440D8CA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45720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6CB28A-A3E0-4F87-B1E7-713694F4AB2C}"/>
              </a:ext>
            </a:extLst>
          </p:cNvPr>
          <p:cNvSpPr>
            <a:spLocks noGrp="1"/>
          </p:cNvSpPr>
          <p:nvPr/>
        </p:nvSpPr>
        <p:spPr>
          <a:xfrm>
            <a:off x="8810625" y="33528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D6DAA4-AC63-49C0-9ABD-4DDA6E09A745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Fairness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146FAF-E039-4EF0-A908-A3430CABA16C}"/>
              </a:ext>
            </a:extLst>
          </p:cNvPr>
          <p:cNvSpPr>
            <a:spLocks noGrp="1"/>
          </p:cNvSpPr>
          <p:nvPr/>
        </p:nvSpPr>
        <p:spPr>
          <a:xfrm>
            <a:off x="2857500" y="4038600"/>
            <a:ext cx="5715000" cy="114300"/>
          </a:xfrm>
          <a:prstGeom prst="rect">
            <a:avLst/>
          </a:prstGeom>
          <a:solidFill>
            <a:srgbClr val="E5EA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E02720-AA03-4118-8A0A-FCF5A1DA82EC}"/>
              </a:ext>
            </a:extLst>
          </p:cNvPr>
          <p:cNvSpPr>
            <a:spLocks noGrp="1"/>
          </p:cNvSpPr>
          <p:nvPr/>
        </p:nvSpPr>
        <p:spPr>
          <a:xfrm>
            <a:off x="2857500" y="4038600"/>
            <a:ext cx="4343400" cy="1143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5AAFA5-9D8E-42FF-9248-F562E1FA5F39}"/>
              </a:ext>
            </a:extLst>
          </p:cNvPr>
          <p:cNvSpPr>
            <a:spLocks noGrp="1"/>
          </p:cNvSpPr>
          <p:nvPr/>
        </p:nvSpPr>
        <p:spPr>
          <a:xfrm>
            <a:off x="8810625" y="39433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76%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E504D2-4DFE-4DC2-91F8-FC1582D799B7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Lab Quality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610333-3162-4468-8AC4-D30E02759A90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5715000" cy="114300"/>
          </a:xfrm>
          <a:prstGeom prst="rect">
            <a:avLst/>
          </a:prstGeom>
          <a:solidFill>
            <a:srgbClr val="E5EA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E3E111-7C4F-4C9B-886B-3B6E9EF5FA0C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5715000" cy="114300"/>
          </a:xfrm>
          <a:prstGeom prst="rect">
            <a:avLst/>
          </a:prstGeom>
          <a:solidFill>
            <a:srgbClr val="0B5F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32E769-BA69-43C4-B81C-EB472E3C1BFD}"/>
              </a:ext>
            </a:extLst>
          </p:cNvPr>
          <p:cNvSpPr>
            <a:spLocks noGrp="1"/>
          </p:cNvSpPr>
          <p:nvPr/>
        </p:nvSpPr>
        <p:spPr>
          <a:xfrm>
            <a:off x="8810625" y="45339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0B5F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5F59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98E892-9B82-468F-8594-C268567BA0F5}"/>
              </a:ext>
            </a:extLst>
          </p:cNvPr>
          <p:cNvSpPr>
            <a:spLocks noGrp="1"/>
          </p:cNvSpPr>
          <p:nvPr/>
        </p:nvSpPr>
        <p:spPr>
          <a:xfrm>
            <a:off x="9715500" y="2171700"/>
            <a:ext cx="1524000" cy="3143250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7CDC99-E46D-4168-A53E-A6F2805FA96C}"/>
              </a:ext>
            </a:extLst>
          </p:cNvPr>
          <p:cNvSpPr>
            <a:spLocks noGrp="1"/>
          </p:cNvSpPr>
          <p:nvPr/>
        </p:nvSpPr>
        <p:spPr>
          <a:xfrm>
            <a:off x="9925050" y="2476500"/>
            <a:ext cx="1123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F5B84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B841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AB54FB-D40C-4A84-9A6C-1FCFCCC95E76}"/>
              </a:ext>
            </a:extLst>
          </p:cNvPr>
          <p:cNvSpPr>
            <a:spLocks noGrp="1"/>
          </p:cNvSpPr>
          <p:nvPr/>
        </p:nvSpPr>
        <p:spPr>
          <a:xfrm>
            <a:off x="9925050" y="2971800"/>
            <a:ext cx="11239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timetable should be correct, compact, fair, and understandable.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EC3B6C-CD7D-45A0-ADC4-39C4F5ECB98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22950B-375B-483F-A48D-7B2A693DABC4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836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DC6230F-1EC4-4EAF-9889-06D65F69E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76685E-7FD6-4420-ABA8-2D33464561A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AI CONCEPTS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EA14C-BA44-4452-8566-68A5C9D5B94B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F757DE-5369-4EFC-99B3-5646A29B5E16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system demonstrates core AI ideas through a working scheduler.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4C70E-60EC-4602-87CF-77673E437DD7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concept maps to an actual behavior in the implementation.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463D-CC5C-4FB8-9954-E4A5EA4492E9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4762500" cy="7620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BDB9C0-DAB5-4FB5-A29B-B09E6D7BA5E6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CSP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34C461-4C48-4170-AAAF-8D27EBAEB9F8}"/>
              </a:ext>
            </a:extLst>
          </p:cNvPr>
          <p:cNvSpPr>
            <a:spLocks noGrp="1"/>
          </p:cNvSpPr>
          <p:nvPr/>
        </p:nvSpPr>
        <p:spPr>
          <a:xfrm>
            <a:off x="2381250" y="21145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Sessions are variables; teachers, rooms and slots are domains; constraints decide validity.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C34165-11BA-4DEF-B38B-B9470CB09A50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4762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37C8B6-4271-4285-BBD6-F68BAD4A849E}"/>
              </a:ext>
            </a:extLst>
          </p:cNvPr>
          <p:cNvSpPr>
            <a:spLocks noGrp="1"/>
          </p:cNvSpPr>
          <p:nvPr/>
        </p:nvSpPr>
        <p:spPr>
          <a:xfrm>
            <a:off x="6286500" y="2133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Backtracking Search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770C8-8F22-4112-B12A-A94031270C4E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engine can recover when a later assignment becomes impossible.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942EA-F811-450F-A8CB-4EA5AAE7AA1A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4762500" cy="7620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6ADB26-140E-4BCD-8F20-419F6D14D28C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Heuristic Ordering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905BC-D1E5-4771-AA97-086CA029059B}"/>
              </a:ext>
            </a:extLst>
          </p:cNvPr>
          <p:cNvSpPr>
            <a:spLocks noGrp="1"/>
          </p:cNvSpPr>
          <p:nvPr/>
        </p:nvSpPr>
        <p:spPr>
          <a:xfrm>
            <a:off x="2381250" y="31813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Labs, scarce teachers, heavy sections and longer sessions are scheduled first.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5AE8B0-EBCB-4E80-8E7F-9E7466A3E9D6}"/>
              </a:ext>
            </a:extLst>
          </p:cNvPr>
          <p:cNvSpPr>
            <a:spLocks noGrp="1"/>
          </p:cNvSpPr>
          <p:nvPr/>
        </p:nvSpPr>
        <p:spPr>
          <a:xfrm>
            <a:off x="6096000" y="3067050"/>
            <a:ext cx="4762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C227D-910E-42AA-BBB7-27E2E335B1E6}"/>
              </a:ext>
            </a:extLst>
          </p:cNvPr>
          <p:cNvSpPr>
            <a:spLocks noGrp="1"/>
          </p:cNvSpPr>
          <p:nvPr/>
        </p:nvSpPr>
        <p:spPr>
          <a:xfrm>
            <a:off x="6286500" y="3200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Soft Optimization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FB6AA-604B-4DE4-8F7F-DA5B37CF5614}"/>
              </a:ext>
            </a:extLst>
          </p:cNvPr>
          <p:cNvSpPr>
            <a:spLocks noGrp="1"/>
          </p:cNvSpPr>
          <p:nvPr/>
        </p:nvSpPr>
        <p:spPr>
          <a:xfrm>
            <a:off x="7715250" y="31813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 candidates are scored for compactness, fairness and workload.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CC83BA-B402-4051-AD6F-231B52213B3D}"/>
              </a:ext>
            </a:extLst>
          </p:cNvPr>
          <p:cNvSpPr>
            <a:spLocks noGrp="1"/>
          </p:cNvSpPr>
          <p:nvPr/>
        </p:nvSpPr>
        <p:spPr>
          <a:xfrm>
            <a:off x="762000" y="4133850"/>
            <a:ext cx="4762500" cy="7620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2B5E52-D5A1-4800-8E74-68E4C47E3971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Explainable AI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4091BE-60EC-4B91-80A1-358F245BF7C7}"/>
              </a:ext>
            </a:extLst>
          </p:cNvPr>
          <p:cNvSpPr>
            <a:spLocks noGrp="1"/>
          </p:cNvSpPr>
          <p:nvPr/>
        </p:nvSpPr>
        <p:spPr>
          <a:xfrm>
            <a:off x="2381250" y="42481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slot stores reasons for why it was selected.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2E79A3-0623-4F31-81ED-C8D8D8DAF865}"/>
              </a:ext>
            </a:extLst>
          </p:cNvPr>
          <p:cNvSpPr>
            <a:spLocks noGrp="1"/>
          </p:cNvSpPr>
          <p:nvPr/>
        </p:nvSpPr>
        <p:spPr>
          <a:xfrm>
            <a:off x="6096000" y="4133850"/>
            <a:ext cx="4762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EC7173-F857-48CF-A89A-B9275977AABB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Adaptive Scoring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9C11E6-8D9B-4407-A059-2BB04D06D94E}"/>
              </a:ext>
            </a:extLst>
          </p:cNvPr>
          <p:cNvSpPr>
            <a:spLocks noGrp="1"/>
          </p:cNvSpPr>
          <p:nvPr/>
        </p:nvSpPr>
        <p:spPr>
          <a:xfrm>
            <a:off x="7715250" y="424815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Quality gaps update weights after generation runs.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991FB-CE86-414C-84AD-98FDB8F63B0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0AAEB9-7DFF-4CA1-B214-C2E50C9C167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1644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8D8C22F-BE6F-4B2C-B1EF-59D81993D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81C435-2545-4242-B0FD-C60DBFB88614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ALGORITHM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F94D70-86B8-4E6F-9A0A-9B3AAF8C15AF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B6FFB-EE17-4274-8924-E9456D507FFF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AI engine follows a clear decision pipeline from data to export.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D35FC-F74C-47C5-8BAA-76083727B964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gives the project a defensible viva explanation.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FE8C6-2EFF-4A42-AF68-B9B2303F58B0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6B445-98C3-44E1-9484-75EE9A014BBF}"/>
              </a:ext>
            </a:extLst>
          </p:cNvPr>
          <p:cNvSpPr>
            <a:spLocks noGrp="1"/>
          </p:cNvSpPr>
          <p:nvPr/>
        </p:nvSpPr>
        <p:spPr>
          <a:xfrm>
            <a:off x="819150" y="231457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2AC734-6CC5-4485-AFCC-90AD372ACECE}"/>
              </a:ext>
            </a:extLst>
          </p:cNvPr>
          <p:cNvSpPr>
            <a:spLocks noGrp="1"/>
          </p:cNvSpPr>
          <p:nvPr/>
        </p:nvSpPr>
        <p:spPr>
          <a:xfrm>
            <a:off x="819150" y="237172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2340D7-23C8-4F15-86A6-5FA42E352213}"/>
              </a:ext>
            </a:extLst>
          </p:cNvPr>
          <p:cNvSpPr>
            <a:spLocks noGrp="1"/>
          </p:cNvSpPr>
          <p:nvPr/>
        </p:nvSpPr>
        <p:spPr>
          <a:xfrm>
            <a:off x="1257300" y="22955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Load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6CFCB-99FD-4EE0-8BD7-F378DD16F816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Teachers, courses, sections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19131-4C2C-4606-A9B1-DE195764B74F}"/>
              </a:ext>
            </a:extLst>
          </p:cNvPr>
          <p:cNvSpPr>
            <a:spLocks noGrp="1"/>
          </p:cNvSpPr>
          <p:nvPr/>
        </p:nvSpPr>
        <p:spPr>
          <a:xfrm>
            <a:off x="3448050" y="2143125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0823D9-4902-4C80-9C9D-D818600F3EF4}"/>
              </a:ext>
            </a:extLst>
          </p:cNvPr>
          <p:cNvSpPr>
            <a:spLocks noGrp="1"/>
          </p:cNvSpPr>
          <p:nvPr/>
        </p:nvSpPr>
        <p:spPr>
          <a:xfrm>
            <a:off x="3600450" y="231457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EA792-211F-4CE2-BF93-6447BC434D1B}"/>
              </a:ext>
            </a:extLst>
          </p:cNvPr>
          <p:cNvSpPr>
            <a:spLocks noGrp="1"/>
          </p:cNvSpPr>
          <p:nvPr/>
        </p:nvSpPr>
        <p:spPr>
          <a:xfrm>
            <a:off x="3600450" y="237172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5FC696-1925-4AE7-B576-41CD3FB14A26}"/>
              </a:ext>
            </a:extLst>
          </p:cNvPr>
          <p:cNvSpPr>
            <a:spLocks noGrp="1"/>
          </p:cNvSpPr>
          <p:nvPr/>
        </p:nvSpPr>
        <p:spPr>
          <a:xfrm>
            <a:off x="4038600" y="22955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Build sessions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E9383-D716-497A-88EF-E6E461ACDDD5}"/>
              </a:ext>
            </a:extLst>
          </p:cNvPr>
          <p:cNvSpPr>
            <a:spLocks noGrp="1"/>
          </p:cNvSpPr>
          <p:nvPr/>
        </p:nvSpPr>
        <p:spPr>
          <a:xfrm>
            <a:off x="3619500" y="267652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Labs, 2+1, 2-hour blocks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A298BD-0683-4E3B-9741-869E5FE9762F}"/>
              </a:ext>
            </a:extLst>
          </p:cNvPr>
          <p:cNvSpPr>
            <a:spLocks noGrp="1"/>
          </p:cNvSpPr>
          <p:nvPr/>
        </p:nvSpPr>
        <p:spPr>
          <a:xfrm>
            <a:off x="6229350" y="2143125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189506-F541-4656-8B1D-C92FA4FC2F75}"/>
              </a:ext>
            </a:extLst>
          </p:cNvPr>
          <p:cNvSpPr>
            <a:spLocks noGrp="1"/>
          </p:cNvSpPr>
          <p:nvPr/>
        </p:nvSpPr>
        <p:spPr>
          <a:xfrm>
            <a:off x="6381750" y="231457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68D4F1-5DA5-40CB-BADD-932F7A75695A}"/>
              </a:ext>
            </a:extLst>
          </p:cNvPr>
          <p:cNvSpPr>
            <a:spLocks noGrp="1"/>
          </p:cNvSpPr>
          <p:nvPr/>
        </p:nvSpPr>
        <p:spPr>
          <a:xfrm>
            <a:off x="6381750" y="237172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B3E44B-5673-4754-81A5-2EBB536C3001}"/>
              </a:ext>
            </a:extLst>
          </p:cNvPr>
          <p:cNvSpPr>
            <a:spLocks noGrp="1"/>
          </p:cNvSpPr>
          <p:nvPr/>
        </p:nvSpPr>
        <p:spPr>
          <a:xfrm>
            <a:off x="6819900" y="22955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Sort hard cases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596269-6D40-4E6D-A589-B77F56088695}"/>
              </a:ext>
            </a:extLst>
          </p:cNvPr>
          <p:cNvSpPr>
            <a:spLocks noGrp="1"/>
          </p:cNvSpPr>
          <p:nvPr/>
        </p:nvSpPr>
        <p:spPr>
          <a:xfrm>
            <a:off x="6400800" y="267652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Labs and scarce teachers first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B35DD9-958A-4C4B-A3A5-B419E29DFDF8}"/>
              </a:ext>
            </a:extLst>
          </p:cNvPr>
          <p:cNvSpPr>
            <a:spLocks noGrp="1"/>
          </p:cNvSpPr>
          <p:nvPr/>
        </p:nvSpPr>
        <p:spPr>
          <a:xfrm>
            <a:off x="9010650" y="2143125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2A727-E071-4B49-A759-50C10BD87787}"/>
              </a:ext>
            </a:extLst>
          </p:cNvPr>
          <p:cNvSpPr>
            <a:spLocks noGrp="1"/>
          </p:cNvSpPr>
          <p:nvPr/>
        </p:nvSpPr>
        <p:spPr>
          <a:xfrm>
            <a:off x="9163050" y="231457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A6B3A2-B3B8-4232-B1D9-557397A78AB8}"/>
              </a:ext>
            </a:extLst>
          </p:cNvPr>
          <p:cNvSpPr>
            <a:spLocks noGrp="1"/>
          </p:cNvSpPr>
          <p:nvPr/>
        </p:nvSpPr>
        <p:spPr>
          <a:xfrm>
            <a:off x="9163050" y="237172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228D4A-365C-4ACC-8341-25EC3EC55D6B}"/>
              </a:ext>
            </a:extLst>
          </p:cNvPr>
          <p:cNvSpPr>
            <a:spLocks noGrp="1"/>
          </p:cNvSpPr>
          <p:nvPr/>
        </p:nvSpPr>
        <p:spPr>
          <a:xfrm>
            <a:off x="9601200" y="22955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Find candidates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EFC2FC-31C0-410F-A4C0-984CF90307E1}"/>
              </a:ext>
            </a:extLst>
          </p:cNvPr>
          <p:cNvSpPr>
            <a:spLocks noGrp="1"/>
          </p:cNvSpPr>
          <p:nvPr/>
        </p:nvSpPr>
        <p:spPr>
          <a:xfrm>
            <a:off x="9182100" y="267652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Teacher-room-time options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1B4E8E-5397-418A-BB56-D8A3708DE973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E09856-BC87-4928-B457-75D3853ED329}"/>
              </a:ext>
            </a:extLst>
          </p:cNvPr>
          <p:cNvSpPr>
            <a:spLocks noGrp="1"/>
          </p:cNvSpPr>
          <p:nvPr/>
        </p:nvSpPr>
        <p:spPr>
          <a:xfrm>
            <a:off x="819150" y="3743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AE04F2-B5F9-460E-97FC-3B2FEB349E4E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C28ED1-6AA5-4D98-BEAF-8DFD0ECA5588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Reject conflicts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220AEC-02CA-4755-8436-3AAC7C888E57}"/>
              </a:ext>
            </a:extLst>
          </p:cNvPr>
          <p:cNvSpPr>
            <a:spLocks noGrp="1"/>
          </p:cNvSpPr>
          <p:nvPr/>
        </p:nvSpPr>
        <p:spPr>
          <a:xfrm>
            <a:off x="838200" y="4105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CSP hard constraints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203EB9-AE6B-4A98-9FE4-3A3311341153}"/>
              </a:ext>
            </a:extLst>
          </p:cNvPr>
          <p:cNvSpPr>
            <a:spLocks noGrp="1"/>
          </p:cNvSpPr>
          <p:nvPr/>
        </p:nvSpPr>
        <p:spPr>
          <a:xfrm>
            <a:off x="3448050" y="3571875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25589-DDD5-45AE-8F05-C91118DE7D38}"/>
              </a:ext>
            </a:extLst>
          </p:cNvPr>
          <p:cNvSpPr>
            <a:spLocks noGrp="1"/>
          </p:cNvSpPr>
          <p:nvPr/>
        </p:nvSpPr>
        <p:spPr>
          <a:xfrm>
            <a:off x="3600450" y="3743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D557D1-D0ED-4B90-A757-6243C99CF719}"/>
              </a:ext>
            </a:extLst>
          </p:cNvPr>
          <p:cNvSpPr>
            <a:spLocks noGrp="1"/>
          </p:cNvSpPr>
          <p:nvPr/>
        </p:nvSpPr>
        <p:spPr>
          <a:xfrm>
            <a:off x="3600450" y="3800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D4B53D-B415-4CF0-9009-64BB17866415}"/>
              </a:ext>
            </a:extLst>
          </p:cNvPr>
          <p:cNvSpPr>
            <a:spLocks noGrp="1"/>
          </p:cNvSpPr>
          <p:nvPr/>
        </p:nvSpPr>
        <p:spPr>
          <a:xfrm>
            <a:off x="4038600" y="3724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Score slots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B15401-731E-487A-9A62-FB1A9C4893AB}"/>
              </a:ext>
            </a:extLst>
          </p:cNvPr>
          <p:cNvSpPr>
            <a:spLocks noGrp="1"/>
          </p:cNvSpPr>
          <p:nvPr/>
        </p:nvSpPr>
        <p:spPr>
          <a:xfrm>
            <a:off x="3619500" y="4105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Compactness + fairness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056FAAE-10EF-43F4-A7C5-4E80AC901DBD}"/>
              </a:ext>
            </a:extLst>
          </p:cNvPr>
          <p:cNvSpPr>
            <a:spLocks noGrp="1"/>
          </p:cNvSpPr>
          <p:nvPr/>
        </p:nvSpPr>
        <p:spPr>
          <a:xfrm>
            <a:off x="6229350" y="3571875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27E1BE-E9AD-462C-91C8-0C1A6C552514}"/>
              </a:ext>
            </a:extLst>
          </p:cNvPr>
          <p:cNvSpPr>
            <a:spLocks noGrp="1"/>
          </p:cNvSpPr>
          <p:nvPr/>
        </p:nvSpPr>
        <p:spPr>
          <a:xfrm>
            <a:off x="6381750" y="3743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F65855-A458-430C-9406-A88042E238E7}"/>
              </a:ext>
            </a:extLst>
          </p:cNvPr>
          <p:cNvSpPr>
            <a:spLocks noGrp="1"/>
          </p:cNvSpPr>
          <p:nvPr/>
        </p:nvSpPr>
        <p:spPr>
          <a:xfrm>
            <a:off x="6381750" y="3800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49D81F-591A-4E70-A3D2-CD85B28B3316}"/>
              </a:ext>
            </a:extLst>
          </p:cNvPr>
          <p:cNvSpPr>
            <a:spLocks noGrp="1"/>
          </p:cNvSpPr>
          <p:nvPr/>
        </p:nvSpPr>
        <p:spPr>
          <a:xfrm>
            <a:off x="6819900" y="3724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Assign/backtrack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052341-BDB9-40E7-AC15-1810E5273BB7}"/>
              </a:ext>
            </a:extLst>
          </p:cNvPr>
          <p:cNvSpPr>
            <a:spLocks noGrp="1"/>
          </p:cNvSpPr>
          <p:nvPr/>
        </p:nvSpPr>
        <p:spPr>
          <a:xfrm>
            <a:off x="6400800" y="4105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 best feasible schedule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C7728F-6871-4707-9154-1E054B02F64B}"/>
              </a:ext>
            </a:extLst>
          </p:cNvPr>
          <p:cNvSpPr>
            <a:spLocks noGrp="1"/>
          </p:cNvSpPr>
          <p:nvPr/>
        </p:nvSpPr>
        <p:spPr>
          <a:xfrm>
            <a:off x="9010650" y="3571875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BA9E65-E7E1-4D12-91DC-2B53F89CA50D}"/>
              </a:ext>
            </a:extLst>
          </p:cNvPr>
          <p:cNvSpPr>
            <a:spLocks noGrp="1"/>
          </p:cNvSpPr>
          <p:nvPr/>
        </p:nvSpPr>
        <p:spPr>
          <a:xfrm>
            <a:off x="9163050" y="3743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37749B-13D7-4036-82E8-FB43A3D317F1}"/>
              </a:ext>
            </a:extLst>
          </p:cNvPr>
          <p:cNvSpPr>
            <a:spLocks noGrp="1"/>
          </p:cNvSpPr>
          <p:nvPr/>
        </p:nvSpPr>
        <p:spPr>
          <a:xfrm>
            <a:off x="9163050" y="3800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EFD888-CECB-44F9-B702-0550635B6278}"/>
              </a:ext>
            </a:extLst>
          </p:cNvPr>
          <p:cNvSpPr>
            <a:spLocks noGrp="1"/>
          </p:cNvSpPr>
          <p:nvPr/>
        </p:nvSpPr>
        <p:spPr>
          <a:xfrm>
            <a:off x="9601200" y="3724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Export outputs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271E478-94B8-4198-8254-F75C9605398E}"/>
              </a:ext>
            </a:extLst>
          </p:cNvPr>
          <p:cNvSpPr>
            <a:spLocks noGrp="1"/>
          </p:cNvSpPr>
          <p:nvPr/>
        </p:nvSpPr>
        <p:spPr>
          <a:xfrm>
            <a:off x="9182100" y="4105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Views, PDF, ZIP, CSV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99A3DFE-057D-4765-AA28-41E82154E90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6F3338-7783-4EC0-92D6-B0E4495663B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4230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C123277-2820-4E86-B544-C3BA2A19D1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ABAD0-C06F-4DFF-B479-84D5526FC9B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UNIQUE FEATURE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4F80BE-D90D-4F97-9632-DBECE3655BD4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F1C707-6C99-4FE2-A949-6619584066CE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Repeat-student protection makes the timetable student-aware, not just room-aware.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310FAA-9146-4870-9693-6EC1325AF6A3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repeat student may belong to one section but attend a failed course from another semester.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A74163-A150-4CB4-87DF-CA4AA90A0CC0}"/>
              </a:ext>
            </a:extLst>
          </p:cNvPr>
          <p:cNvSpPr>
            <a:spLocks noGrp="1"/>
          </p:cNvSpPr>
          <p:nvPr/>
        </p:nvSpPr>
        <p:spPr>
          <a:xfrm>
            <a:off x="1028700" y="2428875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87F67-0315-4A7D-95C9-4D0DDA4FFE13}"/>
              </a:ext>
            </a:extLst>
          </p:cNvPr>
          <p:cNvSpPr>
            <a:spLocks noGrp="1"/>
          </p:cNvSpPr>
          <p:nvPr/>
        </p:nvSpPr>
        <p:spPr>
          <a:xfrm>
            <a:off x="1181100" y="2600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CEBC-B6D0-4D46-A943-DC806C0FAE7D}"/>
              </a:ext>
            </a:extLst>
          </p:cNvPr>
          <p:cNvSpPr>
            <a:spLocks noGrp="1"/>
          </p:cNvSpPr>
          <p:nvPr/>
        </p:nvSpPr>
        <p:spPr>
          <a:xfrm>
            <a:off x="1181100" y="2657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3CF25-FCD4-4754-97D9-25150E27679D}"/>
              </a:ext>
            </a:extLst>
          </p:cNvPr>
          <p:cNvSpPr>
            <a:spLocks noGrp="1"/>
          </p:cNvSpPr>
          <p:nvPr/>
        </p:nvSpPr>
        <p:spPr>
          <a:xfrm>
            <a:off x="1619250" y="2581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Current Section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FEB08A-5331-48E5-9906-2FDBE30AAF18}"/>
              </a:ext>
            </a:extLst>
          </p:cNvPr>
          <p:cNvSpPr>
            <a:spLocks noGrp="1"/>
          </p:cNvSpPr>
          <p:nvPr/>
        </p:nvSpPr>
        <p:spPr>
          <a:xfrm>
            <a:off x="1200150" y="2962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Identify all courses the student normally attends.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819B81-4BBD-45A8-9D1F-5A069CF14633}"/>
              </a:ext>
            </a:extLst>
          </p:cNvPr>
          <p:cNvSpPr>
            <a:spLocks noGrp="1"/>
          </p:cNvSpPr>
          <p:nvPr/>
        </p:nvSpPr>
        <p:spPr>
          <a:xfrm>
            <a:off x="3695700" y="2428875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3D1C39-79DF-478A-A8D0-A5AFDDB7B787}"/>
              </a:ext>
            </a:extLst>
          </p:cNvPr>
          <p:cNvSpPr>
            <a:spLocks noGrp="1"/>
          </p:cNvSpPr>
          <p:nvPr/>
        </p:nvSpPr>
        <p:spPr>
          <a:xfrm>
            <a:off x="3848100" y="2600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36300D-8083-4FDF-B709-0D18C9E1D3D6}"/>
              </a:ext>
            </a:extLst>
          </p:cNvPr>
          <p:cNvSpPr>
            <a:spLocks noGrp="1"/>
          </p:cNvSpPr>
          <p:nvPr/>
        </p:nvSpPr>
        <p:spPr>
          <a:xfrm>
            <a:off x="3848100" y="2657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5CBEEE-CFAD-45B9-8647-27EC96E3734A}"/>
              </a:ext>
            </a:extLst>
          </p:cNvPr>
          <p:cNvSpPr>
            <a:spLocks noGrp="1"/>
          </p:cNvSpPr>
          <p:nvPr/>
        </p:nvSpPr>
        <p:spPr>
          <a:xfrm>
            <a:off x="4286250" y="2581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Repeated Course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7F4B34-4746-4901-A440-0C9DAE31B4B5}"/>
              </a:ext>
            </a:extLst>
          </p:cNvPr>
          <p:cNvSpPr>
            <a:spLocks noGrp="1"/>
          </p:cNvSpPr>
          <p:nvPr/>
        </p:nvSpPr>
        <p:spPr>
          <a:xfrm>
            <a:off x="3867150" y="2962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Identify courses repeated from another section.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7ECC62-B531-4FCE-BCE5-6EFAC503EAAA}"/>
              </a:ext>
            </a:extLst>
          </p:cNvPr>
          <p:cNvSpPr>
            <a:spLocks noGrp="1"/>
          </p:cNvSpPr>
          <p:nvPr/>
        </p:nvSpPr>
        <p:spPr>
          <a:xfrm>
            <a:off x="6362700" y="2428875"/>
            <a:ext cx="2362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DB533B-7960-4BAA-AA25-0B2695691C98}"/>
              </a:ext>
            </a:extLst>
          </p:cNvPr>
          <p:cNvSpPr>
            <a:spLocks noGrp="1"/>
          </p:cNvSpPr>
          <p:nvPr/>
        </p:nvSpPr>
        <p:spPr>
          <a:xfrm>
            <a:off x="6515100" y="2600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E7C6CF-6642-4818-8861-49E416CECB48}"/>
              </a:ext>
            </a:extLst>
          </p:cNvPr>
          <p:cNvSpPr>
            <a:spLocks noGrp="1"/>
          </p:cNvSpPr>
          <p:nvPr/>
        </p:nvSpPr>
        <p:spPr>
          <a:xfrm>
            <a:off x="6515100" y="2657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DE2178-8959-43AD-8BF3-CF66628373DE}"/>
              </a:ext>
            </a:extLst>
          </p:cNvPr>
          <p:cNvSpPr>
            <a:spLocks noGrp="1"/>
          </p:cNvSpPr>
          <p:nvPr/>
        </p:nvSpPr>
        <p:spPr>
          <a:xfrm>
            <a:off x="6953250" y="2581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Clash 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78382C-30E9-4FE3-946F-84A9C137E873}"/>
              </a:ext>
            </a:extLst>
          </p:cNvPr>
          <p:cNvSpPr>
            <a:spLocks noGrp="1"/>
          </p:cNvSpPr>
          <p:nvPr/>
        </p:nvSpPr>
        <p:spPr>
          <a:xfrm>
            <a:off x="6534150" y="2962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Reject any slot overlap between both course sets.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FD6AE6-484A-4878-B1FC-9986401B4577}"/>
              </a:ext>
            </a:extLst>
          </p:cNvPr>
          <p:cNvSpPr>
            <a:spLocks noGrp="1"/>
          </p:cNvSpPr>
          <p:nvPr/>
        </p:nvSpPr>
        <p:spPr>
          <a:xfrm>
            <a:off x="9029700" y="2428875"/>
            <a:ext cx="2362200" cy="10287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8FAE24-74A1-4E6D-89D7-B25565FD75BD}"/>
              </a:ext>
            </a:extLst>
          </p:cNvPr>
          <p:cNvSpPr>
            <a:spLocks noGrp="1"/>
          </p:cNvSpPr>
          <p:nvPr/>
        </p:nvSpPr>
        <p:spPr>
          <a:xfrm>
            <a:off x="9182100" y="2600325"/>
            <a:ext cx="3238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7050C5-9F7E-4206-9E26-17D8B04358B8}"/>
              </a:ext>
            </a:extLst>
          </p:cNvPr>
          <p:cNvSpPr>
            <a:spLocks noGrp="1"/>
          </p:cNvSpPr>
          <p:nvPr/>
        </p:nvSpPr>
        <p:spPr>
          <a:xfrm>
            <a:off x="9182100" y="2657475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A750C0-2702-440A-86BD-F3C029ED2AE7}"/>
              </a:ext>
            </a:extLst>
          </p:cNvPr>
          <p:cNvSpPr>
            <a:spLocks noGrp="1"/>
          </p:cNvSpPr>
          <p:nvPr/>
        </p:nvSpPr>
        <p:spPr>
          <a:xfrm>
            <a:off x="9620250" y="25812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Protected Output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6C2E9B-3BEF-43BC-B2A9-D85E05ADE8BF}"/>
              </a:ext>
            </a:extLst>
          </p:cNvPr>
          <p:cNvSpPr>
            <a:spLocks noGrp="1"/>
          </p:cNvSpPr>
          <p:nvPr/>
        </p:nvSpPr>
        <p:spPr>
          <a:xfrm>
            <a:off x="9201150" y="2962275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Student can attend both current and repeated subjects.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D7AABB-ACB3-445C-8C58-9A089AE014F1}"/>
              </a:ext>
            </a:extLst>
          </p:cNvPr>
          <p:cNvSpPr>
            <a:spLocks noGrp="1"/>
          </p:cNvSpPr>
          <p:nvPr/>
        </p:nvSpPr>
        <p:spPr>
          <a:xfrm>
            <a:off x="1524000" y="4238625"/>
            <a:ext cx="9144000" cy="666750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F09BFA-F080-463F-942D-5BA00F641347}"/>
              </a:ext>
            </a:extLst>
          </p:cNvPr>
          <p:cNvSpPr>
            <a:spLocks noGrp="1"/>
          </p:cNvSpPr>
          <p:nvPr/>
        </p:nvSpPr>
        <p:spPr>
          <a:xfrm>
            <a:off x="1809750" y="4438650"/>
            <a:ext cx="838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Originality: most basic timetable projects stop at teacher/room clashes; ReSched AI includes repeat-student constraints and explanations.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9C3ABF-4BD1-48AE-994F-32C20E8F3FB5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0C6F9A-5048-492C-9729-A7F18A1CD97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6055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91606C2-331C-4E39-9866-711F45570F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72DD6A-EBF7-4A50-94C8-967258A7E11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410556-F88A-473A-B608-46CAE3C21A73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25EA5-7430-4CE2-AEEB-F7D8D46CD1B1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application separates interface, API, database, and AI reasoning.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EAC47-4C2C-44C8-B688-AD5ADCE748F8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keeps the code modular and aligned with CCP implementation requirements.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1EF21-5F9D-4B51-B5B6-0B1D216BC6C5}"/>
              </a:ext>
            </a:extLst>
          </p:cNvPr>
          <p:cNvSpPr>
            <a:spLocks noGrp="1"/>
          </p:cNvSpPr>
          <p:nvPr/>
        </p:nvSpPr>
        <p:spPr>
          <a:xfrm>
            <a:off x="904875" y="2286000"/>
            <a:ext cx="2095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9A4429-E296-4554-8FBA-A230F70E4257}"/>
              </a:ext>
            </a:extLst>
          </p:cNvPr>
          <p:cNvSpPr>
            <a:spLocks noGrp="1"/>
          </p:cNvSpPr>
          <p:nvPr/>
        </p:nvSpPr>
        <p:spPr>
          <a:xfrm>
            <a:off x="1133475" y="2571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F088D7-4104-42B2-8B63-2D4178BEB1B1}"/>
              </a:ext>
            </a:extLst>
          </p:cNvPr>
          <p:cNvSpPr>
            <a:spLocks noGrp="1"/>
          </p:cNvSpPr>
          <p:nvPr/>
        </p:nvSpPr>
        <p:spPr>
          <a:xfrm>
            <a:off x="1133475" y="3067050"/>
            <a:ext cx="1524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React + Tailwind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Admin dashboard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Timetable views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ED19-7591-4378-B9FB-5129597E5990}"/>
              </a:ext>
            </a:extLst>
          </p:cNvPr>
          <p:cNvSpPr>
            <a:spLocks noGrp="1"/>
          </p:cNvSpPr>
          <p:nvPr/>
        </p:nvSpPr>
        <p:spPr>
          <a:xfrm>
            <a:off x="3038475" y="3219450"/>
            <a:ext cx="49530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EA735F-DA85-4EB4-9A19-A42ABD61F884}"/>
              </a:ext>
            </a:extLst>
          </p:cNvPr>
          <p:cNvSpPr>
            <a:spLocks noGrp="1"/>
          </p:cNvSpPr>
          <p:nvPr/>
        </p:nvSpPr>
        <p:spPr>
          <a:xfrm>
            <a:off x="3571875" y="2286000"/>
            <a:ext cx="2095500" cy="20002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502ADA-629B-4D9F-895F-9201A1669828}"/>
              </a:ext>
            </a:extLst>
          </p:cNvPr>
          <p:cNvSpPr>
            <a:spLocks noGrp="1"/>
          </p:cNvSpPr>
          <p:nvPr/>
        </p:nvSpPr>
        <p:spPr>
          <a:xfrm>
            <a:off x="3800475" y="2571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16EEBD-EEF1-4197-AB37-5BAE07C7C68C}"/>
              </a:ext>
            </a:extLst>
          </p:cNvPr>
          <p:cNvSpPr>
            <a:spLocks noGrp="1"/>
          </p:cNvSpPr>
          <p:nvPr/>
        </p:nvSpPr>
        <p:spPr>
          <a:xfrm>
            <a:off x="3800475" y="3067050"/>
            <a:ext cx="1524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FastAPI routes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CRUD endpoints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Export endpoints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08096A-BC9C-47A6-AA63-FCB770D1E3FE}"/>
              </a:ext>
            </a:extLst>
          </p:cNvPr>
          <p:cNvSpPr>
            <a:spLocks noGrp="1"/>
          </p:cNvSpPr>
          <p:nvPr/>
        </p:nvSpPr>
        <p:spPr>
          <a:xfrm>
            <a:off x="5705475" y="3219450"/>
            <a:ext cx="49530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55B750-85C4-4220-84D3-E1C9FF4D01B2}"/>
              </a:ext>
            </a:extLst>
          </p:cNvPr>
          <p:cNvSpPr>
            <a:spLocks noGrp="1"/>
          </p:cNvSpPr>
          <p:nvPr/>
        </p:nvSpPr>
        <p:spPr>
          <a:xfrm>
            <a:off x="6238875" y="2286000"/>
            <a:ext cx="2095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E8A029-21E9-4F33-BA94-33C6DA9417B7}"/>
              </a:ext>
            </a:extLst>
          </p:cNvPr>
          <p:cNvSpPr>
            <a:spLocks noGrp="1"/>
          </p:cNvSpPr>
          <p:nvPr/>
        </p:nvSpPr>
        <p:spPr>
          <a:xfrm>
            <a:off x="6467475" y="2571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B8F16-C591-442D-8091-9CAA5710BB8F}"/>
              </a:ext>
            </a:extLst>
          </p:cNvPr>
          <p:cNvSpPr>
            <a:spLocks noGrp="1"/>
          </p:cNvSpPr>
          <p:nvPr/>
        </p:nvSpPr>
        <p:spPr>
          <a:xfrm>
            <a:off x="6467475" y="3067050"/>
            <a:ext cx="1524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SQLite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Academic records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Latest run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A8BFB7-C776-4696-AF99-B1AD85B3355B}"/>
              </a:ext>
            </a:extLst>
          </p:cNvPr>
          <p:cNvSpPr>
            <a:spLocks noGrp="1"/>
          </p:cNvSpPr>
          <p:nvPr/>
        </p:nvSpPr>
        <p:spPr>
          <a:xfrm>
            <a:off x="8372475" y="3219450"/>
            <a:ext cx="49530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85026-846C-410D-85A3-7771C779A287}"/>
              </a:ext>
            </a:extLst>
          </p:cNvPr>
          <p:cNvSpPr>
            <a:spLocks noGrp="1"/>
          </p:cNvSpPr>
          <p:nvPr/>
        </p:nvSpPr>
        <p:spPr>
          <a:xfrm>
            <a:off x="8905875" y="2286000"/>
            <a:ext cx="2095500" cy="20002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76DB2C-A003-47B0-B389-93446471E3E8}"/>
              </a:ext>
            </a:extLst>
          </p:cNvPr>
          <p:cNvSpPr>
            <a:spLocks noGrp="1"/>
          </p:cNvSpPr>
          <p:nvPr/>
        </p:nvSpPr>
        <p:spPr>
          <a:xfrm>
            <a:off x="9134475" y="2571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AI Engine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2BB8E7-28AE-453D-ABC2-3479C8744DF5}"/>
              </a:ext>
            </a:extLst>
          </p:cNvPr>
          <p:cNvSpPr>
            <a:spLocks noGrp="1"/>
          </p:cNvSpPr>
          <p:nvPr/>
        </p:nvSpPr>
        <p:spPr>
          <a:xfrm>
            <a:off x="9134475" y="3067050"/>
            <a:ext cx="1524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CSP checker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Backtracking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Heuristic scoring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028E99-63C1-4609-8EF0-75DFED37DAE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4D4CDE-BA36-4440-A01C-1E14468B584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38635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B9BDA0A-FAFE-4C44-96B9-1BC1B45A5F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348D6F-A8D9-471A-946D-C41BBCE7D05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IMPLEMENTATION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B0F59-15F8-4801-B801-38C463522756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CA09F8-B453-446B-93D9-A2CAEAEE1B30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system is organized into clear input, AI logic, and output modules.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82A899-B28E-4969-9FFF-54FEAE6AEE81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matches the lab-work requirement for modular, readable project code.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96B959-F236-4D52-B666-A0AB5EC005B0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4762500" cy="1000125"/>
          </a:xfrm>
          <a:prstGeom prst="rect">
            <a:avLst/>
          </a:prstGeom>
          <a:solidFill>
            <a:srgbClr val="EAF2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94C15-6537-4169-8485-AB6B2AC8D23C}"/>
              </a:ext>
            </a:extLst>
          </p:cNvPr>
          <p:cNvSpPr>
            <a:spLocks noGrp="1"/>
          </p:cNvSpPr>
          <p:nvPr/>
        </p:nvSpPr>
        <p:spPr>
          <a:xfrm>
            <a:off x="1085850" y="23622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4AB745-84F2-443D-BA31-23F7A885330B}"/>
              </a:ext>
            </a:extLst>
          </p:cNvPr>
          <p:cNvSpPr>
            <a:spLocks noGrp="1"/>
          </p:cNvSpPr>
          <p:nvPr/>
        </p:nvSpPr>
        <p:spPr>
          <a:xfrm>
            <a:off x="1085850" y="2686050"/>
            <a:ext cx="3905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Teachers, courses, sections, rooms/labs, repeat students, SECTION-WISE import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495DF-57EC-4929-A2DC-231C27B8DDF9}"/>
              </a:ext>
            </a:extLst>
          </p:cNvPr>
          <p:cNvSpPr>
            <a:spLocks noGrp="1"/>
          </p:cNvSpPr>
          <p:nvPr/>
        </p:nvSpPr>
        <p:spPr>
          <a:xfrm>
            <a:off x="6143625" y="2190750"/>
            <a:ext cx="4762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D4FE6-7FC3-44E5-8604-0E77BCE1F444}"/>
              </a:ext>
            </a:extLst>
          </p:cNvPr>
          <p:cNvSpPr>
            <a:spLocks noGrp="1"/>
          </p:cNvSpPr>
          <p:nvPr/>
        </p:nvSpPr>
        <p:spPr>
          <a:xfrm>
            <a:off x="6372225" y="23622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B8606C-66F6-4451-9129-4D57345CB5AB}"/>
              </a:ext>
            </a:extLst>
          </p:cNvPr>
          <p:cNvSpPr>
            <a:spLocks noGrp="1"/>
          </p:cNvSpPr>
          <p:nvPr/>
        </p:nvSpPr>
        <p:spPr>
          <a:xfrm>
            <a:off x="6372225" y="2686050"/>
            <a:ext cx="3905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Session builder, CSP validator, heuristic scorer, explanation generator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02291F-1DEA-4DD1-9661-5EB3E065BB6D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4762500" cy="1000125"/>
          </a:xfrm>
          <a:prstGeom prst="rect">
            <a:avLst/>
          </a:prstGeom>
          <a:solidFill>
            <a:srgbClr val="EAF2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0BE57E-EE90-48FE-B497-400BE14A08E0}"/>
              </a:ext>
            </a:extLst>
          </p:cNvPr>
          <p:cNvSpPr>
            <a:spLocks noGrp="1"/>
          </p:cNvSpPr>
          <p:nvPr/>
        </p:nvSpPr>
        <p:spPr>
          <a:xfrm>
            <a:off x="1085850" y="37433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9BB00D-4A3D-4CDD-B4EE-7127A4A422AB}"/>
              </a:ext>
            </a:extLst>
          </p:cNvPr>
          <p:cNvSpPr>
            <a:spLocks noGrp="1"/>
          </p:cNvSpPr>
          <p:nvPr/>
        </p:nvSpPr>
        <p:spPr>
          <a:xfrm>
            <a:off x="1085850" y="4067175"/>
            <a:ext cx="3905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Timetable views, reports, quality score, CSV/PDF/ZIP exports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1CECBF-EAFC-47A5-8672-BE2599FFC685}"/>
              </a:ext>
            </a:extLst>
          </p:cNvPr>
          <p:cNvSpPr>
            <a:spLocks noGrp="1"/>
          </p:cNvSpPr>
          <p:nvPr/>
        </p:nvSpPr>
        <p:spPr>
          <a:xfrm>
            <a:off x="6143625" y="3571875"/>
            <a:ext cx="47625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CF623C-64DC-4FBF-8FC2-EC5D704F5598}"/>
              </a:ext>
            </a:extLst>
          </p:cNvPr>
          <p:cNvSpPr>
            <a:spLocks noGrp="1"/>
          </p:cNvSpPr>
          <p:nvPr/>
        </p:nvSpPr>
        <p:spPr>
          <a:xfrm>
            <a:off x="6372225" y="3743325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Error Handling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F8DE2F-52DA-4DDF-B7E6-25F10B98C48E}"/>
              </a:ext>
            </a:extLst>
          </p:cNvPr>
          <p:cNvSpPr>
            <a:spLocks noGrp="1"/>
          </p:cNvSpPr>
          <p:nvPr/>
        </p:nvSpPr>
        <p:spPr>
          <a:xfrm>
            <a:off x="6372225" y="4067175"/>
            <a:ext cx="3905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Invalid import rows removed; impossible sessions reported with blockers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EF99BF-8162-4610-8CDA-C4E2501BA55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56333A-851D-40F9-A065-12E9231465C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437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2A12101-F0AE-46BD-AA36-FC550D735A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BBE5FE-CC04-4163-ACB5-878AA3CB05E4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7B901-4F4F-46D1-8B72-14495B222F03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4FE50-11EE-457E-8773-36C9DAACCC28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working app supports a complete admin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A2AD9-D165-42A1-A9F8-3792398E75E6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viva demo can move from login to data import, generation, validation, and export.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C7C83E-B6C1-4391-B83F-8BCDE8E6A0BC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1257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2BC687-BE4E-4800-82CA-E1A0950F4C7A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54B6A-11F7-4301-B5AC-6CAE7D7F33B7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0AC9A3-2A66-4BEB-AB51-D65D616429AE}"/>
              </a:ext>
            </a:extLst>
          </p:cNvPr>
          <p:cNvSpPr>
            <a:spLocks noGrp="1"/>
          </p:cNvSpPr>
          <p:nvPr/>
        </p:nvSpPr>
        <p:spPr>
          <a:xfrm>
            <a:off x="2143125" y="3276600"/>
            <a:ext cx="4000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36DCA-229A-42A2-B2D9-075F382A0699}"/>
              </a:ext>
            </a:extLst>
          </p:cNvPr>
          <p:cNvSpPr>
            <a:spLocks noGrp="1"/>
          </p:cNvSpPr>
          <p:nvPr/>
        </p:nvSpPr>
        <p:spPr>
          <a:xfrm>
            <a:off x="2600325" y="2667000"/>
            <a:ext cx="1257300" cy="12573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F8DF5-4EC1-4AFA-A27D-8FC9001AAD4F}"/>
              </a:ext>
            </a:extLst>
          </p:cNvPr>
          <p:cNvSpPr>
            <a:spLocks noGrp="1"/>
          </p:cNvSpPr>
          <p:nvPr/>
        </p:nvSpPr>
        <p:spPr>
          <a:xfrm>
            <a:off x="2600325" y="300037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281CAD-3597-47D7-AB0E-E9A69C3350DA}"/>
              </a:ext>
            </a:extLst>
          </p:cNvPr>
          <p:cNvSpPr>
            <a:spLocks noGrp="1"/>
          </p:cNvSpPr>
          <p:nvPr/>
        </p:nvSpPr>
        <p:spPr>
          <a:xfrm>
            <a:off x="2695575" y="350520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Import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5ADC8D-F75D-4654-9812-0AC319086C83}"/>
              </a:ext>
            </a:extLst>
          </p:cNvPr>
          <p:cNvSpPr>
            <a:spLocks noGrp="1"/>
          </p:cNvSpPr>
          <p:nvPr/>
        </p:nvSpPr>
        <p:spPr>
          <a:xfrm>
            <a:off x="3905250" y="3276600"/>
            <a:ext cx="4000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7CF7C4-0360-4C34-9387-29C16A820F75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1257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B39ED6-FFA4-450D-8F68-5E37E5C8AFD4}"/>
              </a:ext>
            </a:extLst>
          </p:cNvPr>
          <p:cNvSpPr>
            <a:spLocks noGrp="1"/>
          </p:cNvSpPr>
          <p:nvPr/>
        </p:nvSpPr>
        <p:spPr>
          <a:xfrm>
            <a:off x="4362450" y="300037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F66B0-CBF5-49AC-8232-41C9EE19E82D}"/>
              </a:ext>
            </a:extLst>
          </p:cNvPr>
          <p:cNvSpPr>
            <a:spLocks noGrp="1"/>
          </p:cNvSpPr>
          <p:nvPr/>
        </p:nvSpPr>
        <p:spPr>
          <a:xfrm>
            <a:off x="4457700" y="350520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Manage Records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7E7446-B74C-484C-B2FC-8829C17593AE}"/>
              </a:ext>
            </a:extLst>
          </p:cNvPr>
          <p:cNvSpPr>
            <a:spLocks noGrp="1"/>
          </p:cNvSpPr>
          <p:nvPr/>
        </p:nvSpPr>
        <p:spPr>
          <a:xfrm>
            <a:off x="5667375" y="3276600"/>
            <a:ext cx="4000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7134FE-575E-4D5D-A930-2123756DF081}"/>
              </a:ext>
            </a:extLst>
          </p:cNvPr>
          <p:cNvSpPr>
            <a:spLocks noGrp="1"/>
          </p:cNvSpPr>
          <p:nvPr/>
        </p:nvSpPr>
        <p:spPr>
          <a:xfrm>
            <a:off x="6124575" y="2667000"/>
            <a:ext cx="1257300" cy="12573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6BF717-958F-49A8-9998-1D74BB772105}"/>
              </a:ext>
            </a:extLst>
          </p:cNvPr>
          <p:cNvSpPr>
            <a:spLocks noGrp="1"/>
          </p:cNvSpPr>
          <p:nvPr/>
        </p:nvSpPr>
        <p:spPr>
          <a:xfrm>
            <a:off x="6124575" y="300037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C72D7D-761D-4CF9-B96D-DB6AA0442D4C}"/>
              </a:ext>
            </a:extLst>
          </p:cNvPr>
          <p:cNvSpPr>
            <a:spLocks noGrp="1"/>
          </p:cNvSpPr>
          <p:nvPr/>
        </p:nvSpPr>
        <p:spPr>
          <a:xfrm>
            <a:off x="6219825" y="350520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55775-ED4A-4C9F-8225-FCDF3CBE65F3}"/>
              </a:ext>
            </a:extLst>
          </p:cNvPr>
          <p:cNvSpPr>
            <a:spLocks noGrp="1"/>
          </p:cNvSpPr>
          <p:nvPr/>
        </p:nvSpPr>
        <p:spPr>
          <a:xfrm>
            <a:off x="7429500" y="3276600"/>
            <a:ext cx="4000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949E71-E4E3-4145-B31A-E342DD28C39D}"/>
              </a:ext>
            </a:extLst>
          </p:cNvPr>
          <p:cNvSpPr>
            <a:spLocks noGrp="1"/>
          </p:cNvSpPr>
          <p:nvPr/>
        </p:nvSpPr>
        <p:spPr>
          <a:xfrm>
            <a:off x="7886700" y="2667000"/>
            <a:ext cx="1257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CD8748-BCD1-4907-ACC0-D67F6807F7BA}"/>
              </a:ext>
            </a:extLst>
          </p:cNvPr>
          <p:cNvSpPr>
            <a:spLocks noGrp="1"/>
          </p:cNvSpPr>
          <p:nvPr/>
        </p:nvSpPr>
        <p:spPr>
          <a:xfrm>
            <a:off x="7886700" y="300037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2E6693-CEA0-432A-913F-460B58B41D67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Views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62817B-A13A-48C9-B5FF-B75E51AFB39E}"/>
              </a:ext>
            </a:extLst>
          </p:cNvPr>
          <p:cNvSpPr>
            <a:spLocks noGrp="1"/>
          </p:cNvSpPr>
          <p:nvPr/>
        </p:nvSpPr>
        <p:spPr>
          <a:xfrm>
            <a:off x="9191625" y="3276600"/>
            <a:ext cx="4000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A70204-C24E-440A-84C9-5C4686D1EC11}"/>
              </a:ext>
            </a:extLst>
          </p:cNvPr>
          <p:cNvSpPr>
            <a:spLocks noGrp="1"/>
          </p:cNvSpPr>
          <p:nvPr/>
        </p:nvSpPr>
        <p:spPr>
          <a:xfrm>
            <a:off x="9648825" y="2667000"/>
            <a:ext cx="1257300" cy="125730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E3B96F-2B4A-4BC7-8D50-F5C28CE6F33F}"/>
              </a:ext>
            </a:extLst>
          </p:cNvPr>
          <p:cNvSpPr>
            <a:spLocks noGrp="1"/>
          </p:cNvSpPr>
          <p:nvPr/>
        </p:nvSpPr>
        <p:spPr>
          <a:xfrm>
            <a:off x="9648825" y="300037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19B6FE-14B6-4BCB-AE15-D125791B6AAD}"/>
              </a:ext>
            </a:extLst>
          </p:cNvPr>
          <p:cNvSpPr>
            <a:spLocks noGrp="1"/>
          </p:cNvSpPr>
          <p:nvPr/>
        </p:nvSpPr>
        <p:spPr>
          <a:xfrm>
            <a:off x="9744075" y="3505200"/>
            <a:ext cx="1066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1EEF6B-FFD7-4E50-9938-B7AD103BB570}"/>
              </a:ext>
            </a:extLst>
          </p:cNvPr>
          <p:cNvSpPr>
            <a:spLocks noGrp="1"/>
          </p:cNvSpPr>
          <p:nvPr/>
        </p:nvSpPr>
        <p:spPr>
          <a:xfrm>
            <a:off x="1524000" y="45720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Exports include full PDF, section-wise PDF ZIP, CSV timetable, and extracted data files.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3DA8E2-DDA7-4B1C-8693-B87655994D10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AEE689-6710-4671-9296-415840CED93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771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17E6FF8-9739-4FA7-A492-A6F3610758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0C47A9-F70F-45EA-A6E0-8A4F984CCF7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50691-E78C-433A-A60E-C7E2112C11CF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8313C1-55A2-466C-BB5C-066A3D12C84A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Every scheduled class explains why the slot was selected.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623DEC-1427-41FE-862A-7622C8956E90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turns a timetable from a black-box output into a viva-ready AI reasoning artifact.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E6DCE-A479-4A07-A13B-1059141F7995}"/>
              </a:ext>
            </a:extLst>
          </p:cNvPr>
          <p:cNvSpPr>
            <a:spLocks noGrp="1"/>
          </p:cNvSpPr>
          <p:nvPr/>
        </p:nvSpPr>
        <p:spPr>
          <a:xfrm>
            <a:off x="1238250" y="2095500"/>
            <a:ext cx="4476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98E801-1C2A-4568-B39E-29068C2C78BB}"/>
              </a:ext>
            </a:extLst>
          </p:cNvPr>
          <p:cNvSpPr>
            <a:spLocks noGrp="1"/>
          </p:cNvSpPr>
          <p:nvPr/>
        </p:nvSpPr>
        <p:spPr>
          <a:xfrm>
            <a:off x="1524000" y="23812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Example: CS216 Data Structures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454CC-BE0F-46F8-AFD5-C40005480270}"/>
              </a:ext>
            </a:extLst>
          </p:cNvPr>
          <p:cNvSpPr>
            <a:spLocks noGrp="1"/>
          </p:cNvSpPr>
          <p:nvPr/>
        </p:nvSpPr>
        <p:spPr>
          <a:xfrm>
            <a:off x="1524000" y="28003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BSAI-3 • Lec Tabassum • Thursday 13:20–15:10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80BD59-5EB1-406F-9D0B-0D1177FDD260}"/>
              </a:ext>
            </a:extLst>
          </p:cNvPr>
          <p:cNvSpPr>
            <a:spLocks noGrp="1"/>
          </p:cNvSpPr>
          <p:nvPr/>
        </p:nvSpPr>
        <p:spPr>
          <a:xfrm>
            <a:off x="1562100" y="32956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A12302-29E1-48F7-8519-1D101FDF1586}"/>
              </a:ext>
            </a:extLst>
          </p:cNvPr>
          <p:cNvSpPr>
            <a:spLocks noGrp="1"/>
          </p:cNvSpPr>
          <p:nvPr/>
        </p:nvSpPr>
        <p:spPr>
          <a:xfrm>
            <a:off x="1733550" y="32385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 is available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0A80A-4489-41F6-BF46-FC6438CA17F4}"/>
              </a:ext>
            </a:extLst>
          </p:cNvPr>
          <p:cNvSpPr>
            <a:spLocks noGrp="1"/>
          </p:cNvSpPr>
          <p:nvPr/>
        </p:nvSpPr>
        <p:spPr>
          <a:xfrm>
            <a:off x="1562100" y="35623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F57A26-D0A4-46FB-88F7-52C0CAC2A84F}"/>
              </a:ext>
            </a:extLst>
          </p:cNvPr>
          <p:cNvSpPr>
            <a:spLocks noGrp="1"/>
          </p:cNvSpPr>
          <p:nvPr/>
        </p:nvSpPr>
        <p:spPr>
          <a:xfrm>
            <a:off x="1733550" y="35052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 has assigned expertise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7CAD61-6785-4B40-846E-4D78A5E7AD98}"/>
              </a:ext>
            </a:extLst>
          </p:cNvPr>
          <p:cNvSpPr>
            <a:spLocks noGrp="1"/>
          </p:cNvSpPr>
          <p:nvPr/>
        </p:nvSpPr>
        <p:spPr>
          <a:xfrm>
            <a:off x="1562100" y="38290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7EB5F-2C35-43D1-A0F3-CAED00D1F143}"/>
              </a:ext>
            </a:extLst>
          </p:cNvPr>
          <p:cNvSpPr>
            <a:spLocks noGrp="1"/>
          </p:cNvSpPr>
          <p:nvPr/>
        </p:nvSpPr>
        <p:spPr>
          <a:xfrm>
            <a:off x="1733550" y="37719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teacher/room/section clash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B93B1F-EFAA-44E6-A726-636C25DEEBB9}"/>
              </a:ext>
            </a:extLst>
          </p:cNvPr>
          <p:cNvSpPr>
            <a:spLocks noGrp="1"/>
          </p:cNvSpPr>
          <p:nvPr/>
        </p:nvSpPr>
        <p:spPr>
          <a:xfrm>
            <a:off x="1562100" y="40957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873F08-D756-4382-AAE7-DBE4689CDC21}"/>
              </a:ext>
            </a:extLst>
          </p:cNvPr>
          <p:cNvSpPr>
            <a:spLocks noGrp="1"/>
          </p:cNvSpPr>
          <p:nvPr/>
        </p:nvSpPr>
        <p:spPr>
          <a:xfrm>
            <a:off x="1733550" y="40386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section-course teacher lock satisfied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D10382-DAAB-4C8C-B86E-936383C3FF34}"/>
              </a:ext>
            </a:extLst>
          </p:cNvPr>
          <p:cNvSpPr>
            <a:spLocks noGrp="1"/>
          </p:cNvSpPr>
          <p:nvPr/>
        </p:nvSpPr>
        <p:spPr>
          <a:xfrm>
            <a:off x="1562100" y="43624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431E5B-067E-4DB8-9DBD-6E0AB0F20622}"/>
              </a:ext>
            </a:extLst>
          </p:cNvPr>
          <p:cNvSpPr>
            <a:spLocks noGrp="1"/>
          </p:cNvSpPr>
          <p:nvPr/>
        </p:nvSpPr>
        <p:spPr>
          <a:xfrm>
            <a:off x="1733550" y="43053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2-hour block supports 3-credit 2+1 rule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97D80D-D039-4E91-B401-5695DB14827F}"/>
              </a:ext>
            </a:extLst>
          </p:cNvPr>
          <p:cNvSpPr>
            <a:spLocks noGrp="1"/>
          </p:cNvSpPr>
          <p:nvPr/>
        </p:nvSpPr>
        <p:spPr>
          <a:xfrm>
            <a:off x="1562100" y="462915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A6BCF-362D-4430-BF10-172694F4C0F5}"/>
              </a:ext>
            </a:extLst>
          </p:cNvPr>
          <p:cNvSpPr>
            <a:spLocks noGrp="1"/>
          </p:cNvSpPr>
          <p:nvPr/>
        </p:nvSpPr>
        <p:spPr>
          <a:xfrm>
            <a:off x="1733550" y="45720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Slot keeps section day compact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67B8D7-46AB-4427-8205-F9D36667F668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3810000" cy="2190750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EB3211-F3D2-4975-AF6D-A4BA0D4F6B79}"/>
              </a:ext>
            </a:extLst>
          </p:cNvPr>
          <p:cNvSpPr>
            <a:spLocks noGrp="1"/>
          </p:cNvSpPr>
          <p:nvPr/>
        </p:nvSpPr>
        <p:spPr>
          <a:xfrm>
            <a:off x="6838950" y="2762250"/>
            <a:ext cx="3048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1">
                <a:solidFill>
                  <a:srgbClr val="F5B84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B841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8AA7D7-D190-4847-9F6E-764A5163AEBA}"/>
              </a:ext>
            </a:extLst>
          </p:cNvPr>
          <p:cNvSpPr>
            <a:spLocks noGrp="1"/>
          </p:cNvSpPr>
          <p:nvPr/>
        </p:nvSpPr>
        <p:spPr>
          <a:xfrm>
            <a:off x="6838950" y="348615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admin can defend each decision instead of only showing a final table.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88B3C8-BFFB-4D5A-AA00-7D8802FD9EC1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5B8046-E920-4E53-8596-3EF97060FE3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24738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09C571-27B6-4A1F-AA7E-A3C1DE645D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D832BF-13F4-4B37-B505-4CD13F9D842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FEB14A-AF2F-4BAF-B0DE-F4D0D460783B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2F009-6B80-4EA8-8541-2883C6189755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latest run schedules every required session with zero hard conflicts.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03ECC8-D2DE-44B5-8ADC-91373AFF319E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Validation measures correctness and timetable quality instead of relying on visual inspection only.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8626D-6EA8-401F-9327-7A95D419192A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2381250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FB377-81FF-44AB-898D-448B24927C72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66675" cy="1190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EEB84-64E4-48C1-888F-3392E2C2936B}"/>
              </a:ext>
            </a:extLst>
          </p:cNvPr>
          <p:cNvSpPr>
            <a:spLocks noGrp="1"/>
          </p:cNvSpPr>
          <p:nvPr/>
        </p:nvSpPr>
        <p:spPr>
          <a:xfrm>
            <a:off x="1333500" y="2457450"/>
            <a:ext cx="2076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149/149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C6B62-6FDA-40A8-BD98-8176743C1A1D}"/>
              </a:ext>
            </a:extLst>
          </p:cNvPr>
          <p:cNvSpPr>
            <a:spLocks noGrp="1"/>
          </p:cNvSpPr>
          <p:nvPr/>
        </p:nvSpPr>
        <p:spPr>
          <a:xfrm>
            <a:off x="1352550" y="28765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Scheduled sessions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0C758-9D89-4E85-9405-EAC76266F79F}"/>
              </a:ext>
            </a:extLst>
          </p:cNvPr>
          <p:cNvSpPr>
            <a:spLocks noGrp="1"/>
          </p:cNvSpPr>
          <p:nvPr/>
        </p:nvSpPr>
        <p:spPr>
          <a:xfrm>
            <a:off x="3857625" y="2286000"/>
            <a:ext cx="2095500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FE1428-474A-4B54-8AF7-FABF329F89C0}"/>
              </a:ext>
            </a:extLst>
          </p:cNvPr>
          <p:cNvSpPr>
            <a:spLocks noGrp="1"/>
          </p:cNvSpPr>
          <p:nvPr/>
        </p:nvSpPr>
        <p:spPr>
          <a:xfrm>
            <a:off x="3857625" y="2286000"/>
            <a:ext cx="66675" cy="1190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79F564-224F-4D1B-BA61-E59A51AEFE76}"/>
              </a:ext>
            </a:extLst>
          </p:cNvPr>
          <p:cNvSpPr>
            <a:spLocks noGrp="1"/>
          </p:cNvSpPr>
          <p:nvPr/>
        </p:nvSpPr>
        <p:spPr>
          <a:xfrm>
            <a:off x="4048125" y="24574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560A64-9D90-43AD-9B48-5A791162BAC5}"/>
              </a:ext>
            </a:extLst>
          </p:cNvPr>
          <p:cNvSpPr>
            <a:spLocks noGrp="1"/>
          </p:cNvSpPr>
          <p:nvPr/>
        </p:nvSpPr>
        <p:spPr>
          <a:xfrm>
            <a:off x="4067175" y="287655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conflicts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B3B140-9B70-4321-BAF3-1C4CFCA70C41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223837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2E0C3B-7203-42C2-A086-A059083157CA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66675" cy="119062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327D7E-97E3-47ED-AD9A-EFFD265CF7E7}"/>
              </a:ext>
            </a:extLst>
          </p:cNvPr>
          <p:cNvSpPr>
            <a:spLocks noGrp="1"/>
          </p:cNvSpPr>
          <p:nvPr/>
        </p:nvSpPr>
        <p:spPr>
          <a:xfrm>
            <a:off x="6477000" y="2457450"/>
            <a:ext cx="19335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85/100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141C87-D225-4F91-AD09-412B5C7A3269}"/>
              </a:ext>
            </a:extLst>
          </p:cNvPr>
          <p:cNvSpPr>
            <a:spLocks noGrp="1"/>
          </p:cNvSpPr>
          <p:nvPr/>
        </p:nvSpPr>
        <p:spPr>
          <a:xfrm>
            <a:off x="6496050" y="2876550"/>
            <a:ext cx="18954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Quality score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934C91-FCC8-4178-8A55-C30AC6643246}"/>
              </a:ext>
            </a:extLst>
          </p:cNvPr>
          <p:cNvSpPr>
            <a:spLocks noGrp="1"/>
          </p:cNvSpPr>
          <p:nvPr/>
        </p:nvSpPr>
        <p:spPr>
          <a:xfrm>
            <a:off x="8858250" y="2286000"/>
            <a:ext cx="2095500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EC84A1-E0B6-4F38-A340-16F0E80CDEBD}"/>
              </a:ext>
            </a:extLst>
          </p:cNvPr>
          <p:cNvSpPr>
            <a:spLocks noGrp="1"/>
          </p:cNvSpPr>
          <p:nvPr/>
        </p:nvSpPr>
        <p:spPr>
          <a:xfrm>
            <a:off x="8858250" y="2286000"/>
            <a:ext cx="66675" cy="1190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2605A-00DE-44F8-86AD-E477899A0AAC}"/>
              </a:ext>
            </a:extLst>
          </p:cNvPr>
          <p:cNvSpPr>
            <a:spLocks noGrp="1"/>
          </p:cNvSpPr>
          <p:nvPr/>
        </p:nvSpPr>
        <p:spPr>
          <a:xfrm>
            <a:off x="9048750" y="24574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7F68E5-2F93-4D5B-956D-13120FA63FBE}"/>
              </a:ext>
            </a:extLst>
          </p:cNvPr>
          <p:cNvSpPr>
            <a:spLocks noGrp="1"/>
          </p:cNvSpPr>
          <p:nvPr/>
        </p:nvSpPr>
        <p:spPr>
          <a:xfrm>
            <a:off x="9067800" y="287655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Bad lab entries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A2AA71-D675-4A94-B1C6-38F751876B53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9144000" cy="7429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BDA96C-95AB-480C-9224-B75A6BC42E9C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838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Verified example: BSAI-3 CS216 = 2h Thursday + 1h Monday, both taught by Lec Tabassum.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269E81-9CE6-4574-944E-8C03B089FBB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BAF7FF-847A-4206-AA24-E6DAE743D342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03712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DE9A88-E6DB-4F00-BFED-4033BAB32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345782-774C-40D1-9D91-BACAA5B5B8D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EVALUATION FIT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DC045-E08F-4EFD-A63B-CD67580F7D5B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514350" cy="381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CF2DE-340F-4D37-91C0-BF1D1436C5B8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deck and project are aligned with the AI Theory rubric.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812FB-3CC5-47E7-8A02-2044447081B9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strongest scoring areas are problem relevance, conceptual design, analysis, presentation, and originality.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AEA20-0363-47FE-BCFF-DF7FA77C2D93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10096500" cy="4000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D9908-D075-4D4B-9386-12336F69BF22}"/>
              </a:ext>
            </a:extLst>
          </p:cNvPr>
          <p:cNvSpPr>
            <a:spLocks noGrp="1"/>
          </p:cNvSpPr>
          <p:nvPr/>
        </p:nvSpPr>
        <p:spPr>
          <a:xfrm>
            <a:off x="1285875" y="20955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Problem relevance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B85CC-2BE3-47D7-9B36-E4EC53E8A429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647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Real university scheduling pain with repeat students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7F061D-EDE2-46F9-A811-FADBE692D804}"/>
              </a:ext>
            </a:extLst>
          </p:cNvPr>
          <p:cNvSpPr>
            <a:spLocks noGrp="1"/>
          </p:cNvSpPr>
          <p:nvPr/>
        </p:nvSpPr>
        <p:spPr>
          <a:xfrm>
            <a:off x="1047750" y="2552700"/>
            <a:ext cx="10096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BA5D7-DC83-472E-93A8-F91658B82416}"/>
              </a:ext>
            </a:extLst>
          </p:cNvPr>
          <p:cNvSpPr>
            <a:spLocks noGrp="1"/>
          </p:cNvSpPr>
          <p:nvPr/>
        </p:nvSpPr>
        <p:spPr>
          <a:xfrm>
            <a:off x="1285875" y="264795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Background study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703A1B-A06E-41F2-B67E-37282DB9C6FC}"/>
              </a:ext>
            </a:extLst>
          </p:cNvPr>
          <p:cNvSpPr>
            <a:spLocks noGrp="1"/>
          </p:cNvSpPr>
          <p:nvPr/>
        </p:nvSpPr>
        <p:spPr>
          <a:xfrm>
            <a:off x="3714750" y="2647950"/>
            <a:ext cx="647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Compares against normal timetable generators and university scheduling tools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0EF31-BA1B-42F4-8842-C3E608ECB38A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10096500" cy="4000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F29B26-1ADF-4BC9-8B82-C64163018EC9}"/>
              </a:ext>
            </a:extLst>
          </p:cNvPr>
          <p:cNvSpPr>
            <a:spLocks noGrp="1"/>
          </p:cNvSpPr>
          <p:nvPr/>
        </p:nvSpPr>
        <p:spPr>
          <a:xfrm>
            <a:off x="1285875" y="32004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Conceptual design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B0E7B7-57A5-4D60-B886-40EB01E330AA}"/>
              </a:ext>
            </a:extLst>
          </p:cNvPr>
          <p:cNvSpPr>
            <a:spLocks noGrp="1"/>
          </p:cNvSpPr>
          <p:nvPr/>
        </p:nvSpPr>
        <p:spPr>
          <a:xfrm>
            <a:off x="3714750" y="3200400"/>
            <a:ext cx="647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CSP + backtracking + heuristics + explainability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D26B46-1043-4727-9D80-88C787E96713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10096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798D6A-F2FC-43CC-9E69-313C2F0F2C7B}"/>
              </a:ext>
            </a:extLst>
          </p:cNvPr>
          <p:cNvSpPr>
            <a:spLocks noGrp="1"/>
          </p:cNvSpPr>
          <p:nvPr/>
        </p:nvSpPr>
        <p:spPr>
          <a:xfrm>
            <a:off x="1285875" y="375285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80F8CA-2889-4643-8EAF-6C9574874AA4}"/>
              </a:ext>
            </a:extLst>
          </p:cNvPr>
          <p:cNvSpPr>
            <a:spLocks noGrp="1"/>
          </p:cNvSpPr>
          <p:nvPr/>
        </p:nvSpPr>
        <p:spPr>
          <a:xfrm>
            <a:off x="3714750" y="3752850"/>
            <a:ext cx="647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Quality score, conflict report and validation checks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A1EFCE-1647-4110-905E-8EDD742A26DA}"/>
              </a:ext>
            </a:extLst>
          </p:cNvPr>
          <p:cNvSpPr>
            <a:spLocks noGrp="1"/>
          </p:cNvSpPr>
          <p:nvPr/>
        </p:nvSpPr>
        <p:spPr>
          <a:xfrm>
            <a:off x="1047750" y="4210050"/>
            <a:ext cx="10096500" cy="400050"/>
          </a:xfrm>
          <a:prstGeom prst="rect">
            <a:avLst/>
          </a:prstGeom>
          <a:solidFill>
            <a:srgbClr val="E6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349CCC-C31B-4672-A4A9-171D63ABA84D}"/>
              </a:ext>
            </a:extLst>
          </p:cNvPr>
          <p:cNvSpPr>
            <a:spLocks noGrp="1"/>
          </p:cNvSpPr>
          <p:nvPr/>
        </p:nvSpPr>
        <p:spPr>
          <a:xfrm>
            <a:off x="1285875" y="43053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89C82C-BB04-4B24-AF2C-069102D135E0}"/>
              </a:ext>
            </a:extLst>
          </p:cNvPr>
          <p:cNvSpPr>
            <a:spLocks noGrp="1"/>
          </p:cNvSpPr>
          <p:nvPr/>
        </p:nvSpPr>
        <p:spPr>
          <a:xfrm>
            <a:off x="3714750" y="4305300"/>
            <a:ext cx="647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Clear architecture, algorithm and demo flow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E35C06-4971-4BC5-907D-5B2AD38D1ED1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10096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363C9F-526E-4568-B21F-61CFD413EE10}"/>
              </a:ext>
            </a:extLst>
          </p:cNvPr>
          <p:cNvSpPr>
            <a:spLocks noGrp="1"/>
          </p:cNvSpPr>
          <p:nvPr/>
        </p:nvSpPr>
        <p:spPr>
          <a:xfrm>
            <a:off x="1285875" y="485775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Originality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F62438-9289-4DFD-9D97-93574212FB54}"/>
              </a:ext>
            </a:extLst>
          </p:cNvPr>
          <p:cNvSpPr>
            <a:spLocks noGrp="1"/>
          </p:cNvSpPr>
          <p:nvPr/>
        </p:nvSpPr>
        <p:spPr>
          <a:xfrm>
            <a:off x="3714750" y="4857750"/>
            <a:ext cx="647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Repeat-student aware scheduling and explanation panel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5524C4-7203-4A50-B5FC-79F00C315086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21E0EA-C93F-4EE9-A353-7D631920427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87869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C29A270-37A5-408C-803B-0EF0CDEF5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0C5CAF-883B-4472-8D4A-0ECA6EC4723B}"/>
              </a:ext>
            </a:extLst>
          </p:cNvPr>
          <p:cNvSpPr>
            <a:spLocks noGrp="1"/>
          </p:cNvSpPr>
          <p:nvPr/>
        </p:nvSpPr>
        <p:spPr>
          <a:xfrm>
            <a:off x="704850" y="60960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Limitations &amp; 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E66FF9-A867-4BBE-8CCC-C03C30A34F94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809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D6E2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E2EE"/>
                </a:solidFill>
                <a:latin typeface="Aptos"/>
                <a:ea typeface="Aptos"/>
                <a:cs typeface="Aptos"/>
              </a:rPr>
              <a:t>The current version is demo-ready, with clear paths for real deployment.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068CF-45C3-4560-8B35-49305D9D85AF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4762500" cy="2571750"/>
          </a:xfrm>
          <a:prstGeom prst="rect">
            <a:avLst/>
          </a:prstGeom>
          <a:solidFill>
            <a:srgbClr val="142A40"/>
          </a:solidFill>
          <a:ln w="9525">
            <a:solidFill>
              <a:srgbClr val="29435B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62D506-B94E-48C2-8B1D-8C04013E9060}"/>
              </a:ext>
            </a:extLst>
          </p:cNvPr>
          <p:cNvSpPr>
            <a:spLocks noGrp="1"/>
          </p:cNvSpPr>
          <p:nvPr/>
        </p:nvSpPr>
        <p:spPr>
          <a:xfrm>
            <a:off x="1200150" y="2400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89EDC8-D7B0-44DC-9482-F05CCEAD4EF0}"/>
              </a:ext>
            </a:extLst>
          </p:cNvPr>
          <p:cNvSpPr>
            <a:spLocks noGrp="1"/>
          </p:cNvSpPr>
          <p:nvPr/>
        </p:nvSpPr>
        <p:spPr>
          <a:xfrm>
            <a:off x="1257300" y="2981325"/>
            <a:ext cx="66675" cy="6667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D96F29-B7B6-483D-A217-F43924D9394B}"/>
              </a:ext>
            </a:extLst>
          </p:cNvPr>
          <p:cNvSpPr>
            <a:spLocks noGrp="1"/>
          </p:cNvSpPr>
          <p:nvPr/>
        </p:nvSpPr>
        <p:spPr>
          <a:xfrm>
            <a:off x="1428750" y="2924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Local SQLite database for demo 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6ECBC-F1D4-41CC-9D37-98B451C99984}"/>
              </a:ext>
            </a:extLst>
          </p:cNvPr>
          <p:cNvSpPr>
            <a:spLocks noGrp="1"/>
          </p:cNvSpPr>
          <p:nvPr/>
        </p:nvSpPr>
        <p:spPr>
          <a:xfrm>
            <a:off x="1257300" y="3362325"/>
            <a:ext cx="66675" cy="6667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45DC4-9719-4B41-8B67-FEC9F4DE0BBA}"/>
              </a:ext>
            </a:extLst>
          </p:cNvPr>
          <p:cNvSpPr>
            <a:spLocks noGrp="1"/>
          </p:cNvSpPr>
          <p:nvPr/>
        </p:nvSpPr>
        <p:spPr>
          <a:xfrm>
            <a:off x="1428750" y="3305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Repeat-student data entered by admin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79C9D6-E693-4F85-BB92-18E683EA9FF7}"/>
              </a:ext>
            </a:extLst>
          </p:cNvPr>
          <p:cNvSpPr>
            <a:spLocks noGrp="1"/>
          </p:cNvSpPr>
          <p:nvPr/>
        </p:nvSpPr>
        <p:spPr>
          <a:xfrm>
            <a:off x="1257300" y="3743325"/>
            <a:ext cx="66675" cy="6667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F675E2-571E-46D6-8B79-4DDA7D157056}"/>
              </a:ext>
            </a:extLst>
          </p:cNvPr>
          <p:cNvSpPr>
            <a:spLocks noGrp="1"/>
          </p:cNvSpPr>
          <p:nvPr/>
        </p:nvSpPr>
        <p:spPr>
          <a:xfrm>
            <a:off x="1428750" y="3686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AMS integration not connected yet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B98FF-FACB-459F-B8F5-8B7BD821C1F9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66675" cy="66675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5B3EF9-B26F-4CBF-846C-C56763332F76}"/>
              </a:ext>
            </a:extLst>
          </p:cNvPr>
          <p:cNvSpPr>
            <a:spLocks noGrp="1"/>
          </p:cNvSpPr>
          <p:nvPr/>
        </p:nvSpPr>
        <p:spPr>
          <a:xfrm>
            <a:off x="1428750" y="4067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drag-and-drop revalidation planned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7138CF-6B0B-4AF8-A2DE-36BF55774356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62500" cy="2571750"/>
          </a:xfrm>
          <a:prstGeom prst="rect">
            <a:avLst/>
          </a:prstGeom>
          <a:solidFill>
            <a:srgbClr val="E6F5F2"/>
          </a:solidFill>
          <a:ln w="9525">
            <a:solidFill>
              <a:srgbClr val="8FD7C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2A8123-902E-418E-AC7F-FCCAD6C5DB29}"/>
              </a:ext>
            </a:extLst>
          </p:cNvPr>
          <p:cNvSpPr>
            <a:spLocks noGrp="1"/>
          </p:cNvSpPr>
          <p:nvPr/>
        </p:nvSpPr>
        <p:spPr>
          <a:xfrm>
            <a:off x="6896100" y="24003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7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Future Improvement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422828-5FC7-48B3-8E77-174F631BB3EE}"/>
              </a:ext>
            </a:extLst>
          </p:cNvPr>
          <p:cNvSpPr>
            <a:spLocks noGrp="1"/>
          </p:cNvSpPr>
          <p:nvPr/>
        </p:nvSpPr>
        <p:spPr>
          <a:xfrm>
            <a:off x="6953250" y="2981325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2C3646-FE2C-46DE-8E8F-C378A728C512}"/>
              </a:ext>
            </a:extLst>
          </p:cNvPr>
          <p:cNvSpPr>
            <a:spLocks noGrp="1"/>
          </p:cNvSpPr>
          <p:nvPr/>
        </p:nvSpPr>
        <p:spPr>
          <a:xfrm>
            <a:off x="7124700" y="2924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Connect with NIIT AMS records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571E0C-AF48-4333-A2AB-406C3894257C}"/>
              </a:ext>
            </a:extLst>
          </p:cNvPr>
          <p:cNvSpPr>
            <a:spLocks noGrp="1"/>
          </p:cNvSpPr>
          <p:nvPr/>
        </p:nvSpPr>
        <p:spPr>
          <a:xfrm>
            <a:off x="6953250" y="3362325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28747B-85A2-46CC-ABEA-09A33091578F}"/>
              </a:ext>
            </a:extLst>
          </p:cNvPr>
          <p:cNvSpPr>
            <a:spLocks noGrp="1"/>
          </p:cNvSpPr>
          <p:nvPr/>
        </p:nvSpPr>
        <p:spPr>
          <a:xfrm>
            <a:off x="7124700" y="3305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Import live teacher availability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421521-D169-4894-9A52-28E1E551B454}"/>
              </a:ext>
            </a:extLst>
          </p:cNvPr>
          <p:cNvSpPr>
            <a:spLocks noGrp="1"/>
          </p:cNvSpPr>
          <p:nvPr/>
        </p:nvSpPr>
        <p:spPr>
          <a:xfrm>
            <a:off x="6953250" y="3743325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952A52-5A2F-44CB-B659-37DE953D05E6}"/>
              </a:ext>
            </a:extLst>
          </p:cNvPr>
          <p:cNvSpPr>
            <a:spLocks noGrp="1"/>
          </p:cNvSpPr>
          <p:nvPr/>
        </p:nvSpPr>
        <p:spPr>
          <a:xfrm>
            <a:off x="7124700" y="3686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Import real enrollment/repeat-student lists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F89DC7-91C0-4819-AD65-69F901005694}"/>
              </a:ext>
            </a:extLst>
          </p:cNvPr>
          <p:cNvSpPr>
            <a:spLocks noGrp="1"/>
          </p:cNvSpPr>
          <p:nvPr/>
        </p:nvSpPr>
        <p:spPr>
          <a:xfrm>
            <a:off x="6953250" y="4124325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4ED7E0-06A4-472F-B3BC-95A8D5875963}"/>
              </a:ext>
            </a:extLst>
          </p:cNvPr>
          <p:cNvSpPr>
            <a:spLocks noGrp="1"/>
          </p:cNvSpPr>
          <p:nvPr/>
        </p:nvSpPr>
        <p:spPr>
          <a:xfrm>
            <a:off x="7124700" y="40671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Add manual adjustment with auto-recheck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940A38-9251-4843-A510-43FF7A9FA2AD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0458450" cy="666750"/>
          </a:xfrm>
          <a:prstGeom prst="rect">
            <a:avLst/>
          </a:prstGeom>
          <a:solidFill>
            <a:srgbClr val="0F2A3F"/>
          </a:solidFill>
          <a:ln w="9525">
            <a:solidFill>
              <a:srgbClr val="29435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E222-0B09-4D3A-91E3-29850AA4D675}"/>
              </a:ext>
            </a:extLst>
          </p:cNvPr>
          <p:cNvSpPr>
            <a:spLocks noGrp="1"/>
          </p:cNvSpPr>
          <p:nvPr/>
        </p:nvSpPr>
        <p:spPr>
          <a:xfrm>
            <a:off x="1181100" y="525780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r>
              <a:rPr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he limitations are operational integrations, not weaknesses in the AI model; the CSP engine, hard constraints, and scoring logic are already working.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AF5E53-9349-4881-9C26-A55C35CC238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6D4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D4E1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3EC792-6C7B-483A-AAC9-F5F6677C02A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6D4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D4E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9644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7E5CF4-A72B-4546-9A92-1C7C98BFA6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109D1F-B723-43F1-B0B0-D46C774671D3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8572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ReSched AI is a practical AI scheduling system, not just a timetable screen.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39ED2-085D-4129-8203-6C3A19CDC9A1}"/>
              </a:ext>
            </a:extLst>
          </p:cNvPr>
          <p:cNvSpPr>
            <a:spLocks noGrp="1"/>
          </p:cNvSpPr>
          <p:nvPr/>
        </p:nvSpPr>
        <p:spPr>
          <a:xfrm>
            <a:off x="819150" y="1962150"/>
            <a:ext cx="8286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75" b="1">
                <a:solidFill>
                  <a:srgbClr val="D6E2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6E2EE"/>
                </a:solidFill>
                <a:latin typeface="Aptos"/>
                <a:ea typeface="Aptos"/>
                <a:cs typeface="Aptos"/>
              </a:rPr>
              <a:t>It combines CSP, backtracking, heuristic search, soft optimization, and explainable AI to solve a real university administration problem.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1C5F5-D283-42EA-B126-9E4F9ABCCF20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2381250" cy="1143000"/>
          </a:xfrm>
          <a:prstGeom prst="rect">
            <a:avLst/>
          </a:prstGeom>
          <a:solidFill>
            <a:srgbClr val="142A40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8EAEA-9C53-48E5-A717-3496DBFEB6A6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66675" cy="1143000"/>
          </a:xfrm>
          <a:prstGeom prst="rect">
            <a:avLst/>
          </a:prstGeom>
          <a:solidFill>
            <a:srgbClr val="5EEA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CBB941-FAF5-4F37-99C5-FA3DEBF8D66B}"/>
              </a:ext>
            </a:extLst>
          </p:cNvPr>
          <p:cNvSpPr>
            <a:spLocks noGrp="1"/>
          </p:cNvSpPr>
          <p:nvPr/>
        </p:nvSpPr>
        <p:spPr>
          <a:xfrm>
            <a:off x="1181100" y="3505200"/>
            <a:ext cx="2076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5EEAD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EEAD4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597E2-70E1-4B1E-AC68-DA9FA077BBDA}"/>
              </a:ext>
            </a:extLst>
          </p:cNvPr>
          <p:cNvSpPr>
            <a:spLocks noGrp="1"/>
          </p:cNvSpPr>
          <p:nvPr/>
        </p:nvSpPr>
        <p:spPr>
          <a:xfrm>
            <a:off x="1200150" y="392430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conflicts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DC00F5-8A5F-423C-85EE-24E8D5321E73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2381250" cy="1143000"/>
          </a:xfrm>
          <a:prstGeom prst="rect">
            <a:avLst/>
          </a:prstGeom>
          <a:solidFill>
            <a:srgbClr val="142A40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A38F92-6190-48EA-BEA0-BF40E5DA218D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66675" cy="11430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6CEE72-2300-4CF6-8722-47C6428CF11A}"/>
              </a:ext>
            </a:extLst>
          </p:cNvPr>
          <p:cNvSpPr>
            <a:spLocks noGrp="1"/>
          </p:cNvSpPr>
          <p:nvPr/>
        </p:nvSpPr>
        <p:spPr>
          <a:xfrm>
            <a:off x="3905250" y="3505200"/>
            <a:ext cx="2076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149/149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306B01-FCD7-441C-997B-9793022A5527}"/>
              </a:ext>
            </a:extLst>
          </p:cNvPr>
          <p:cNvSpPr>
            <a:spLocks noGrp="1"/>
          </p:cNvSpPr>
          <p:nvPr/>
        </p:nvSpPr>
        <p:spPr>
          <a:xfrm>
            <a:off x="3924300" y="392430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Sessions scheduled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37199F-A504-448E-86A7-0D6F1AEC1866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2381250" cy="1143000"/>
          </a:xfrm>
          <a:prstGeom prst="rect">
            <a:avLst/>
          </a:prstGeom>
          <a:solidFill>
            <a:srgbClr val="142A40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119AB-04D1-4F1C-8A52-7502CE349CE1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66675" cy="1143000"/>
          </a:xfrm>
          <a:prstGeom prst="rect">
            <a:avLst/>
          </a:prstGeom>
          <a:solidFill>
            <a:srgbClr val="F5B8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BE462-9D45-4B85-B0A3-148D14012641}"/>
              </a:ext>
            </a:extLst>
          </p:cNvPr>
          <p:cNvSpPr>
            <a:spLocks noGrp="1"/>
          </p:cNvSpPr>
          <p:nvPr/>
        </p:nvSpPr>
        <p:spPr>
          <a:xfrm>
            <a:off x="6629400" y="3505200"/>
            <a:ext cx="2076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B841"/>
                </a:solidFill>
                <a:latin typeface="Aptos Display"/>
                <a:ea typeface="Aptos Display"/>
                <a:cs typeface="Aptos Display"/>
              </a:rPr>
              <a:t>85/100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9CF7F1-A009-4F01-93D8-DF72983CC2A9}"/>
              </a:ext>
            </a:extLst>
          </p:cNvPr>
          <p:cNvSpPr>
            <a:spLocks noGrp="1"/>
          </p:cNvSpPr>
          <p:nvPr/>
        </p:nvSpPr>
        <p:spPr>
          <a:xfrm>
            <a:off x="6648450" y="392430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Quality 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FA5E71-73AA-47EC-8245-9BDC04D3C0D7}"/>
              </a:ext>
            </a:extLst>
          </p:cNvPr>
          <p:cNvSpPr>
            <a:spLocks noGrp="1"/>
          </p:cNvSpPr>
          <p:nvPr/>
        </p:nvSpPr>
        <p:spPr>
          <a:xfrm>
            <a:off x="9658350" y="14287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725" b="1">
                <a:solidFill>
                  <a:srgbClr val="F5B841"/>
                </a:solidFill>
                <a:latin typeface="Aptos"/>
                <a:ea typeface="Aptos"/>
                <a:cs typeface="Aptos"/>
              </a:defRPr>
            </a:pPr>
            <a:endParaRPr sz="1725" b="1" dirty="0">
              <a:solidFill>
                <a:srgbClr val="F5B84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140AC0-6EEA-44B3-B771-6834140D40B6}"/>
              </a:ext>
            </a:extLst>
          </p:cNvPr>
          <p:cNvSpPr>
            <a:spLocks noGrp="1"/>
          </p:cNvSpPr>
          <p:nvPr/>
        </p:nvSpPr>
        <p:spPr>
          <a:xfrm>
            <a:off x="9658350" y="2000250"/>
            <a:ext cx="12954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2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7FE7DE-5634-4601-9264-5121BBAFD76D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C6D4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D4E1"/>
                </a:solidFill>
                <a:latin typeface="Aptos"/>
                <a:ea typeface="Aptos"/>
                <a:cs typeface="Aptos"/>
              </a:rPr>
              <a:t>ReSched AI • Artificial Intelligence CCP • CS 344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AC0E7E-03F2-4AC1-8104-3AE7D5044F9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6D4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D4E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81963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1833</Words>
  <Application>Microsoft Office PowerPoint</Application>
  <DocSecurity>0</DocSecurity>
  <PresentationFormat>Widescreen</PresentationFormat>
  <Paragraphs>366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ahmad ali</cp:lastModifiedBy>
  <cp:revision>1</cp:revision>
  <dcterms:created xsi:type="dcterms:W3CDTF">2026-05-24T08:51:13Z</dcterms:created>
  <dcterms:modified xsi:type="dcterms:W3CDTF">2026-05-24T09:06:33Z</dcterms:modified>
</cp:coreProperties>
</file>